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36E13-B29D-0F97-B20F-7C305584316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FD9CDBF-6D8F-B368-5F7F-CF07AB0C4A9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A508134-203B-B38A-CCB1-12037B1C9A44}"/>
              </a:ext>
            </a:extLst>
          </p:cNvPr>
          <p:cNvSpPr>
            <a:spLocks noGrp="1"/>
          </p:cNvSpPr>
          <p:nvPr>
            <p:ph type="dt" sz="half" idx="10"/>
          </p:nvPr>
        </p:nvSpPr>
        <p:spPr/>
        <p:txBody>
          <a:bodyPr/>
          <a:lstStyle/>
          <a:p>
            <a:fld id="{ED6CCFC1-C2E2-4F5E-B1ED-09E597679357}" type="datetimeFigureOut">
              <a:rPr lang="en-IN" smtClean="0"/>
              <a:t>14-03-2025</a:t>
            </a:fld>
            <a:endParaRPr lang="en-IN"/>
          </a:p>
        </p:txBody>
      </p:sp>
      <p:sp>
        <p:nvSpPr>
          <p:cNvPr id="5" name="Footer Placeholder 4">
            <a:extLst>
              <a:ext uri="{FF2B5EF4-FFF2-40B4-BE49-F238E27FC236}">
                <a16:creationId xmlns:a16="http://schemas.microsoft.com/office/drawing/2014/main" id="{F6E38F13-2D19-D2A1-32B3-F0FBE8DE43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A868B23-405D-3447-C3E9-4D17C8A12BC7}"/>
              </a:ext>
            </a:extLst>
          </p:cNvPr>
          <p:cNvSpPr>
            <a:spLocks noGrp="1"/>
          </p:cNvSpPr>
          <p:nvPr>
            <p:ph type="sldNum" sz="quarter" idx="12"/>
          </p:nvPr>
        </p:nvSpPr>
        <p:spPr/>
        <p:txBody>
          <a:bodyPr/>
          <a:lstStyle/>
          <a:p>
            <a:fld id="{8E0441D0-B363-40CE-8243-4CC4929D60D2}" type="slidenum">
              <a:rPr lang="en-IN" smtClean="0"/>
              <a:t>‹#›</a:t>
            </a:fld>
            <a:endParaRPr lang="en-IN"/>
          </a:p>
        </p:txBody>
      </p:sp>
    </p:spTree>
    <p:extLst>
      <p:ext uri="{BB962C8B-B14F-4D97-AF65-F5344CB8AC3E}">
        <p14:creationId xmlns:p14="http://schemas.microsoft.com/office/powerpoint/2010/main" val="5391818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8A17C-E0A9-572C-1BBE-0B34096F5A3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7400364-8BAE-D25D-9E51-FD21516937B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CD11EB2-0D84-1740-612B-684F7834E2D6}"/>
              </a:ext>
            </a:extLst>
          </p:cNvPr>
          <p:cNvSpPr>
            <a:spLocks noGrp="1"/>
          </p:cNvSpPr>
          <p:nvPr>
            <p:ph type="dt" sz="half" idx="10"/>
          </p:nvPr>
        </p:nvSpPr>
        <p:spPr/>
        <p:txBody>
          <a:bodyPr/>
          <a:lstStyle/>
          <a:p>
            <a:fld id="{ED6CCFC1-C2E2-4F5E-B1ED-09E597679357}" type="datetimeFigureOut">
              <a:rPr lang="en-IN" smtClean="0"/>
              <a:t>14-03-2025</a:t>
            </a:fld>
            <a:endParaRPr lang="en-IN"/>
          </a:p>
        </p:txBody>
      </p:sp>
      <p:sp>
        <p:nvSpPr>
          <p:cNvPr id="5" name="Footer Placeholder 4">
            <a:extLst>
              <a:ext uri="{FF2B5EF4-FFF2-40B4-BE49-F238E27FC236}">
                <a16:creationId xmlns:a16="http://schemas.microsoft.com/office/drawing/2014/main" id="{2EB6F315-5A8A-8F45-BFE8-B3BC5BD5B8C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410CB30-41E4-EAB0-9358-6A868175C94C}"/>
              </a:ext>
            </a:extLst>
          </p:cNvPr>
          <p:cNvSpPr>
            <a:spLocks noGrp="1"/>
          </p:cNvSpPr>
          <p:nvPr>
            <p:ph type="sldNum" sz="quarter" idx="12"/>
          </p:nvPr>
        </p:nvSpPr>
        <p:spPr/>
        <p:txBody>
          <a:bodyPr/>
          <a:lstStyle/>
          <a:p>
            <a:fld id="{8E0441D0-B363-40CE-8243-4CC4929D60D2}" type="slidenum">
              <a:rPr lang="en-IN" smtClean="0"/>
              <a:t>‹#›</a:t>
            </a:fld>
            <a:endParaRPr lang="en-IN"/>
          </a:p>
        </p:txBody>
      </p:sp>
    </p:spTree>
    <p:extLst>
      <p:ext uri="{BB962C8B-B14F-4D97-AF65-F5344CB8AC3E}">
        <p14:creationId xmlns:p14="http://schemas.microsoft.com/office/powerpoint/2010/main" val="20037619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8F993-A979-5A11-C146-AE6822A4F71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7FEDAA0-83E9-B795-1EBB-4AC67476AD9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2E8926F-EE57-D43A-A2D1-4D083490579B}"/>
              </a:ext>
            </a:extLst>
          </p:cNvPr>
          <p:cNvSpPr>
            <a:spLocks noGrp="1"/>
          </p:cNvSpPr>
          <p:nvPr>
            <p:ph type="dt" sz="half" idx="10"/>
          </p:nvPr>
        </p:nvSpPr>
        <p:spPr/>
        <p:txBody>
          <a:bodyPr/>
          <a:lstStyle/>
          <a:p>
            <a:fld id="{ED6CCFC1-C2E2-4F5E-B1ED-09E597679357}" type="datetimeFigureOut">
              <a:rPr lang="en-IN" smtClean="0"/>
              <a:t>14-03-2025</a:t>
            </a:fld>
            <a:endParaRPr lang="en-IN"/>
          </a:p>
        </p:txBody>
      </p:sp>
      <p:sp>
        <p:nvSpPr>
          <p:cNvPr id="5" name="Footer Placeholder 4">
            <a:extLst>
              <a:ext uri="{FF2B5EF4-FFF2-40B4-BE49-F238E27FC236}">
                <a16:creationId xmlns:a16="http://schemas.microsoft.com/office/drawing/2014/main" id="{8640A848-BEF5-EEE5-11E5-4D4145D9402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F712FF8-7604-E87D-E9AD-DCA25A56AB92}"/>
              </a:ext>
            </a:extLst>
          </p:cNvPr>
          <p:cNvSpPr>
            <a:spLocks noGrp="1"/>
          </p:cNvSpPr>
          <p:nvPr>
            <p:ph type="sldNum" sz="quarter" idx="12"/>
          </p:nvPr>
        </p:nvSpPr>
        <p:spPr/>
        <p:txBody>
          <a:bodyPr/>
          <a:lstStyle/>
          <a:p>
            <a:fld id="{8E0441D0-B363-40CE-8243-4CC4929D60D2}" type="slidenum">
              <a:rPr lang="en-IN" smtClean="0"/>
              <a:t>‹#›</a:t>
            </a:fld>
            <a:endParaRPr lang="en-IN"/>
          </a:p>
        </p:txBody>
      </p:sp>
    </p:spTree>
    <p:extLst>
      <p:ext uri="{BB962C8B-B14F-4D97-AF65-F5344CB8AC3E}">
        <p14:creationId xmlns:p14="http://schemas.microsoft.com/office/powerpoint/2010/main" val="41518547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DA8F7-0B7C-51A4-8DE8-86E8A65DE77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1AC6AAD-9949-FECC-3444-9DADAD16E20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E59B7C4-913C-373B-C7D4-66B932B5F32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3744077-B92F-9A6B-E439-A45A5CD4252F}"/>
              </a:ext>
            </a:extLst>
          </p:cNvPr>
          <p:cNvSpPr>
            <a:spLocks noGrp="1"/>
          </p:cNvSpPr>
          <p:nvPr>
            <p:ph type="dt" sz="half" idx="10"/>
          </p:nvPr>
        </p:nvSpPr>
        <p:spPr/>
        <p:txBody>
          <a:bodyPr/>
          <a:lstStyle/>
          <a:p>
            <a:fld id="{ED6CCFC1-C2E2-4F5E-B1ED-09E597679357}" type="datetimeFigureOut">
              <a:rPr lang="en-IN" smtClean="0"/>
              <a:t>14-03-2025</a:t>
            </a:fld>
            <a:endParaRPr lang="en-IN"/>
          </a:p>
        </p:txBody>
      </p:sp>
      <p:sp>
        <p:nvSpPr>
          <p:cNvPr id="6" name="Footer Placeholder 5">
            <a:extLst>
              <a:ext uri="{FF2B5EF4-FFF2-40B4-BE49-F238E27FC236}">
                <a16:creationId xmlns:a16="http://schemas.microsoft.com/office/drawing/2014/main" id="{C5B4835E-2B75-D501-83B9-1043A8AF88E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5DC3B87-18C8-AE50-C667-E8067DD67BDC}"/>
              </a:ext>
            </a:extLst>
          </p:cNvPr>
          <p:cNvSpPr>
            <a:spLocks noGrp="1"/>
          </p:cNvSpPr>
          <p:nvPr>
            <p:ph type="sldNum" sz="quarter" idx="12"/>
          </p:nvPr>
        </p:nvSpPr>
        <p:spPr/>
        <p:txBody>
          <a:bodyPr/>
          <a:lstStyle/>
          <a:p>
            <a:fld id="{8E0441D0-B363-40CE-8243-4CC4929D60D2}" type="slidenum">
              <a:rPr lang="en-IN" smtClean="0"/>
              <a:t>‹#›</a:t>
            </a:fld>
            <a:endParaRPr lang="en-IN"/>
          </a:p>
        </p:txBody>
      </p:sp>
    </p:spTree>
    <p:extLst>
      <p:ext uri="{BB962C8B-B14F-4D97-AF65-F5344CB8AC3E}">
        <p14:creationId xmlns:p14="http://schemas.microsoft.com/office/powerpoint/2010/main" val="34653315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C1C8D-8045-F544-6252-86542882DB6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0B720A0-50B4-0F0B-8CF5-F76262807B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BDCB13B-B544-E0ED-1CAA-909C0D66538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C78E5CD-D1CC-E561-0B9B-4F46796ACDC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A161C3-0EED-9A34-D60D-9594CF26B3B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8255A04-6427-5991-C2E6-A39B6FF0528A}"/>
              </a:ext>
            </a:extLst>
          </p:cNvPr>
          <p:cNvSpPr>
            <a:spLocks noGrp="1"/>
          </p:cNvSpPr>
          <p:nvPr>
            <p:ph type="dt" sz="half" idx="10"/>
          </p:nvPr>
        </p:nvSpPr>
        <p:spPr/>
        <p:txBody>
          <a:bodyPr/>
          <a:lstStyle/>
          <a:p>
            <a:fld id="{ED6CCFC1-C2E2-4F5E-B1ED-09E597679357}" type="datetimeFigureOut">
              <a:rPr lang="en-IN" smtClean="0"/>
              <a:t>14-03-2025</a:t>
            </a:fld>
            <a:endParaRPr lang="en-IN"/>
          </a:p>
        </p:txBody>
      </p:sp>
      <p:sp>
        <p:nvSpPr>
          <p:cNvPr id="8" name="Footer Placeholder 7">
            <a:extLst>
              <a:ext uri="{FF2B5EF4-FFF2-40B4-BE49-F238E27FC236}">
                <a16:creationId xmlns:a16="http://schemas.microsoft.com/office/drawing/2014/main" id="{86C912A4-C676-50C3-1112-4054CA7D6F0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9133B06-FB2F-720C-E31A-09ECB2F8285A}"/>
              </a:ext>
            </a:extLst>
          </p:cNvPr>
          <p:cNvSpPr>
            <a:spLocks noGrp="1"/>
          </p:cNvSpPr>
          <p:nvPr>
            <p:ph type="sldNum" sz="quarter" idx="12"/>
          </p:nvPr>
        </p:nvSpPr>
        <p:spPr/>
        <p:txBody>
          <a:bodyPr/>
          <a:lstStyle/>
          <a:p>
            <a:fld id="{8E0441D0-B363-40CE-8243-4CC4929D60D2}" type="slidenum">
              <a:rPr lang="en-IN" smtClean="0"/>
              <a:t>‹#›</a:t>
            </a:fld>
            <a:endParaRPr lang="en-IN"/>
          </a:p>
        </p:txBody>
      </p:sp>
    </p:spTree>
    <p:extLst>
      <p:ext uri="{BB962C8B-B14F-4D97-AF65-F5344CB8AC3E}">
        <p14:creationId xmlns:p14="http://schemas.microsoft.com/office/powerpoint/2010/main" val="42178588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46551-7E56-38E8-CE45-FC38A11D8A9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E86D3EE-1F1E-2723-A709-FC69915F93DA}"/>
              </a:ext>
            </a:extLst>
          </p:cNvPr>
          <p:cNvSpPr>
            <a:spLocks noGrp="1"/>
          </p:cNvSpPr>
          <p:nvPr>
            <p:ph type="dt" sz="half" idx="10"/>
          </p:nvPr>
        </p:nvSpPr>
        <p:spPr/>
        <p:txBody>
          <a:bodyPr/>
          <a:lstStyle/>
          <a:p>
            <a:fld id="{ED6CCFC1-C2E2-4F5E-B1ED-09E597679357}" type="datetimeFigureOut">
              <a:rPr lang="en-IN" smtClean="0"/>
              <a:t>14-03-2025</a:t>
            </a:fld>
            <a:endParaRPr lang="en-IN"/>
          </a:p>
        </p:txBody>
      </p:sp>
      <p:sp>
        <p:nvSpPr>
          <p:cNvPr id="4" name="Footer Placeholder 3">
            <a:extLst>
              <a:ext uri="{FF2B5EF4-FFF2-40B4-BE49-F238E27FC236}">
                <a16:creationId xmlns:a16="http://schemas.microsoft.com/office/drawing/2014/main" id="{31DD88B7-040B-BBFC-6CCC-06510BB9CCC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BD0F56E-315C-C79A-49CA-16B2A0E88EE8}"/>
              </a:ext>
            </a:extLst>
          </p:cNvPr>
          <p:cNvSpPr>
            <a:spLocks noGrp="1"/>
          </p:cNvSpPr>
          <p:nvPr>
            <p:ph type="sldNum" sz="quarter" idx="12"/>
          </p:nvPr>
        </p:nvSpPr>
        <p:spPr/>
        <p:txBody>
          <a:bodyPr/>
          <a:lstStyle/>
          <a:p>
            <a:fld id="{8E0441D0-B363-40CE-8243-4CC4929D60D2}" type="slidenum">
              <a:rPr lang="en-IN" smtClean="0"/>
              <a:t>‹#›</a:t>
            </a:fld>
            <a:endParaRPr lang="en-IN"/>
          </a:p>
        </p:txBody>
      </p:sp>
    </p:spTree>
    <p:extLst>
      <p:ext uri="{BB962C8B-B14F-4D97-AF65-F5344CB8AC3E}">
        <p14:creationId xmlns:p14="http://schemas.microsoft.com/office/powerpoint/2010/main" val="38379426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18391D6-3DAB-3E18-959B-F3C1E2BAE216}"/>
              </a:ext>
            </a:extLst>
          </p:cNvPr>
          <p:cNvSpPr>
            <a:spLocks noGrp="1"/>
          </p:cNvSpPr>
          <p:nvPr>
            <p:ph type="dt" sz="half" idx="10"/>
          </p:nvPr>
        </p:nvSpPr>
        <p:spPr/>
        <p:txBody>
          <a:bodyPr/>
          <a:lstStyle/>
          <a:p>
            <a:fld id="{ED6CCFC1-C2E2-4F5E-B1ED-09E597679357}" type="datetimeFigureOut">
              <a:rPr lang="en-IN" smtClean="0"/>
              <a:t>14-03-2025</a:t>
            </a:fld>
            <a:endParaRPr lang="en-IN"/>
          </a:p>
        </p:txBody>
      </p:sp>
      <p:sp>
        <p:nvSpPr>
          <p:cNvPr id="3" name="Footer Placeholder 2">
            <a:extLst>
              <a:ext uri="{FF2B5EF4-FFF2-40B4-BE49-F238E27FC236}">
                <a16:creationId xmlns:a16="http://schemas.microsoft.com/office/drawing/2014/main" id="{0EE468C5-F0E4-0694-A020-30F87D61507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32E9401-D729-315F-8FF1-CB3C7B9EFAC3}"/>
              </a:ext>
            </a:extLst>
          </p:cNvPr>
          <p:cNvSpPr>
            <a:spLocks noGrp="1"/>
          </p:cNvSpPr>
          <p:nvPr>
            <p:ph type="sldNum" sz="quarter" idx="12"/>
          </p:nvPr>
        </p:nvSpPr>
        <p:spPr/>
        <p:txBody>
          <a:bodyPr/>
          <a:lstStyle/>
          <a:p>
            <a:fld id="{8E0441D0-B363-40CE-8243-4CC4929D60D2}" type="slidenum">
              <a:rPr lang="en-IN" smtClean="0"/>
              <a:t>‹#›</a:t>
            </a:fld>
            <a:endParaRPr lang="en-IN"/>
          </a:p>
        </p:txBody>
      </p:sp>
    </p:spTree>
    <p:extLst>
      <p:ext uri="{BB962C8B-B14F-4D97-AF65-F5344CB8AC3E}">
        <p14:creationId xmlns:p14="http://schemas.microsoft.com/office/powerpoint/2010/main" val="41053663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82961-AB4A-7C74-41D0-81B546A21C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2BB05F0-845E-0CAC-F4B5-8F2D463942D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875B7C8-0A10-4C63-652B-42FF053D84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656382-DDFC-00D5-994B-ED677C95DB6D}"/>
              </a:ext>
            </a:extLst>
          </p:cNvPr>
          <p:cNvSpPr>
            <a:spLocks noGrp="1"/>
          </p:cNvSpPr>
          <p:nvPr>
            <p:ph type="dt" sz="half" idx="10"/>
          </p:nvPr>
        </p:nvSpPr>
        <p:spPr/>
        <p:txBody>
          <a:bodyPr/>
          <a:lstStyle/>
          <a:p>
            <a:fld id="{ED6CCFC1-C2E2-4F5E-B1ED-09E597679357}" type="datetimeFigureOut">
              <a:rPr lang="en-IN" smtClean="0"/>
              <a:t>14-03-2025</a:t>
            </a:fld>
            <a:endParaRPr lang="en-IN"/>
          </a:p>
        </p:txBody>
      </p:sp>
      <p:sp>
        <p:nvSpPr>
          <p:cNvPr id="6" name="Footer Placeholder 5">
            <a:extLst>
              <a:ext uri="{FF2B5EF4-FFF2-40B4-BE49-F238E27FC236}">
                <a16:creationId xmlns:a16="http://schemas.microsoft.com/office/drawing/2014/main" id="{059298C2-44C8-5048-BB01-B42D3B9A358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BFE1EA6-EC81-522F-B93E-F6630A6F888B}"/>
              </a:ext>
            </a:extLst>
          </p:cNvPr>
          <p:cNvSpPr>
            <a:spLocks noGrp="1"/>
          </p:cNvSpPr>
          <p:nvPr>
            <p:ph type="sldNum" sz="quarter" idx="12"/>
          </p:nvPr>
        </p:nvSpPr>
        <p:spPr/>
        <p:txBody>
          <a:bodyPr/>
          <a:lstStyle/>
          <a:p>
            <a:fld id="{8E0441D0-B363-40CE-8243-4CC4929D60D2}" type="slidenum">
              <a:rPr lang="en-IN" smtClean="0"/>
              <a:t>‹#›</a:t>
            </a:fld>
            <a:endParaRPr lang="en-IN"/>
          </a:p>
        </p:txBody>
      </p:sp>
    </p:spTree>
    <p:extLst>
      <p:ext uri="{BB962C8B-B14F-4D97-AF65-F5344CB8AC3E}">
        <p14:creationId xmlns:p14="http://schemas.microsoft.com/office/powerpoint/2010/main" val="30971392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D270D-515B-ECF2-ACC9-ABEFA52248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5B8A490-BCC5-5808-742E-038276B3B2E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0818603-4961-7C45-63BD-71FB618E31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48989B-9AF2-17EB-47CF-091F07DBBE13}"/>
              </a:ext>
            </a:extLst>
          </p:cNvPr>
          <p:cNvSpPr>
            <a:spLocks noGrp="1"/>
          </p:cNvSpPr>
          <p:nvPr>
            <p:ph type="dt" sz="half" idx="10"/>
          </p:nvPr>
        </p:nvSpPr>
        <p:spPr/>
        <p:txBody>
          <a:bodyPr/>
          <a:lstStyle/>
          <a:p>
            <a:fld id="{ED6CCFC1-C2E2-4F5E-B1ED-09E597679357}" type="datetimeFigureOut">
              <a:rPr lang="en-IN" smtClean="0"/>
              <a:t>14-03-2025</a:t>
            </a:fld>
            <a:endParaRPr lang="en-IN"/>
          </a:p>
        </p:txBody>
      </p:sp>
      <p:sp>
        <p:nvSpPr>
          <p:cNvPr id="6" name="Footer Placeholder 5">
            <a:extLst>
              <a:ext uri="{FF2B5EF4-FFF2-40B4-BE49-F238E27FC236}">
                <a16:creationId xmlns:a16="http://schemas.microsoft.com/office/drawing/2014/main" id="{5505A0E3-621F-D473-3711-38BF6698F12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FB407F1-8729-AE2A-DB5A-D9EF0F291233}"/>
              </a:ext>
            </a:extLst>
          </p:cNvPr>
          <p:cNvSpPr>
            <a:spLocks noGrp="1"/>
          </p:cNvSpPr>
          <p:nvPr>
            <p:ph type="sldNum" sz="quarter" idx="12"/>
          </p:nvPr>
        </p:nvSpPr>
        <p:spPr/>
        <p:txBody>
          <a:bodyPr/>
          <a:lstStyle/>
          <a:p>
            <a:fld id="{8E0441D0-B363-40CE-8243-4CC4929D60D2}" type="slidenum">
              <a:rPr lang="en-IN" smtClean="0"/>
              <a:t>‹#›</a:t>
            </a:fld>
            <a:endParaRPr lang="en-IN"/>
          </a:p>
        </p:txBody>
      </p:sp>
    </p:spTree>
    <p:extLst>
      <p:ext uri="{BB962C8B-B14F-4D97-AF65-F5344CB8AC3E}">
        <p14:creationId xmlns:p14="http://schemas.microsoft.com/office/powerpoint/2010/main" val="11277272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60DE0-BBA9-51D2-3D2F-4522699E0AA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BD62027-15D7-7544-9FCB-554CDD75C3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D1B56AA-72A5-FDA8-7696-C2E5C6926782}"/>
              </a:ext>
            </a:extLst>
          </p:cNvPr>
          <p:cNvSpPr>
            <a:spLocks noGrp="1"/>
          </p:cNvSpPr>
          <p:nvPr>
            <p:ph type="dt" sz="half" idx="10"/>
          </p:nvPr>
        </p:nvSpPr>
        <p:spPr/>
        <p:txBody>
          <a:bodyPr/>
          <a:lstStyle/>
          <a:p>
            <a:fld id="{ED6CCFC1-C2E2-4F5E-B1ED-09E597679357}" type="datetimeFigureOut">
              <a:rPr lang="en-IN" smtClean="0"/>
              <a:t>14-03-2025</a:t>
            </a:fld>
            <a:endParaRPr lang="en-IN"/>
          </a:p>
        </p:txBody>
      </p:sp>
      <p:sp>
        <p:nvSpPr>
          <p:cNvPr id="5" name="Footer Placeholder 4">
            <a:extLst>
              <a:ext uri="{FF2B5EF4-FFF2-40B4-BE49-F238E27FC236}">
                <a16:creationId xmlns:a16="http://schemas.microsoft.com/office/drawing/2014/main" id="{4E6FAE58-17CA-224B-5417-521F3FCD1D1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047096F-B5B8-DA86-CFAB-8EE4F3B282F4}"/>
              </a:ext>
            </a:extLst>
          </p:cNvPr>
          <p:cNvSpPr>
            <a:spLocks noGrp="1"/>
          </p:cNvSpPr>
          <p:nvPr>
            <p:ph type="sldNum" sz="quarter" idx="12"/>
          </p:nvPr>
        </p:nvSpPr>
        <p:spPr/>
        <p:txBody>
          <a:bodyPr/>
          <a:lstStyle/>
          <a:p>
            <a:fld id="{8E0441D0-B363-40CE-8243-4CC4929D60D2}" type="slidenum">
              <a:rPr lang="en-IN" smtClean="0"/>
              <a:t>‹#›</a:t>
            </a:fld>
            <a:endParaRPr lang="en-IN"/>
          </a:p>
        </p:txBody>
      </p:sp>
    </p:spTree>
    <p:extLst>
      <p:ext uri="{BB962C8B-B14F-4D97-AF65-F5344CB8AC3E}">
        <p14:creationId xmlns:p14="http://schemas.microsoft.com/office/powerpoint/2010/main" val="23601003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38B1918-EE56-B129-A8CD-A592D58C431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152B409-525D-8DEF-1F99-053AB82CBF2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86481E-A1F2-6DBA-8AD9-FF5C80AF077E}"/>
              </a:ext>
            </a:extLst>
          </p:cNvPr>
          <p:cNvSpPr>
            <a:spLocks noGrp="1"/>
          </p:cNvSpPr>
          <p:nvPr>
            <p:ph type="dt" sz="half" idx="10"/>
          </p:nvPr>
        </p:nvSpPr>
        <p:spPr/>
        <p:txBody>
          <a:bodyPr/>
          <a:lstStyle/>
          <a:p>
            <a:fld id="{ED6CCFC1-C2E2-4F5E-B1ED-09E597679357}" type="datetimeFigureOut">
              <a:rPr lang="en-IN" smtClean="0"/>
              <a:t>14-03-2025</a:t>
            </a:fld>
            <a:endParaRPr lang="en-IN"/>
          </a:p>
        </p:txBody>
      </p:sp>
      <p:sp>
        <p:nvSpPr>
          <p:cNvPr id="5" name="Footer Placeholder 4">
            <a:extLst>
              <a:ext uri="{FF2B5EF4-FFF2-40B4-BE49-F238E27FC236}">
                <a16:creationId xmlns:a16="http://schemas.microsoft.com/office/drawing/2014/main" id="{DF312F74-B23C-B86C-C7F1-07B7351F2E8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639CB3-4025-AC91-25B4-B7606CA691CF}"/>
              </a:ext>
            </a:extLst>
          </p:cNvPr>
          <p:cNvSpPr>
            <a:spLocks noGrp="1"/>
          </p:cNvSpPr>
          <p:nvPr>
            <p:ph type="sldNum" sz="quarter" idx="12"/>
          </p:nvPr>
        </p:nvSpPr>
        <p:spPr/>
        <p:txBody>
          <a:bodyPr/>
          <a:lstStyle/>
          <a:p>
            <a:fld id="{8E0441D0-B363-40CE-8243-4CC4929D60D2}" type="slidenum">
              <a:rPr lang="en-IN" smtClean="0"/>
              <a:t>‹#›</a:t>
            </a:fld>
            <a:endParaRPr lang="en-IN"/>
          </a:p>
        </p:txBody>
      </p:sp>
    </p:spTree>
    <p:extLst>
      <p:ext uri="{BB962C8B-B14F-4D97-AF65-F5344CB8AC3E}">
        <p14:creationId xmlns:p14="http://schemas.microsoft.com/office/powerpoint/2010/main" val="27709480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5E0EF1-2E46-7990-EBA9-2C8D3408E2E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CCE21FF-1FD0-9B53-F1FE-66F6262DFC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101B523-D0B9-3518-0766-72C442122F9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D6CCFC1-C2E2-4F5E-B1ED-09E597679357}" type="datetimeFigureOut">
              <a:rPr lang="en-IN" smtClean="0"/>
              <a:t>14-03-2025</a:t>
            </a:fld>
            <a:endParaRPr lang="en-IN"/>
          </a:p>
        </p:txBody>
      </p:sp>
      <p:sp>
        <p:nvSpPr>
          <p:cNvPr id="5" name="Footer Placeholder 4">
            <a:extLst>
              <a:ext uri="{FF2B5EF4-FFF2-40B4-BE49-F238E27FC236}">
                <a16:creationId xmlns:a16="http://schemas.microsoft.com/office/drawing/2014/main" id="{6A54F68E-DD2B-0B89-E88F-80D4EDE7ABF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DC250DB6-EDBD-DEAE-DF2F-41DE832301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E0441D0-B363-40CE-8243-4CC4929D60D2}" type="slidenum">
              <a:rPr lang="en-IN" smtClean="0"/>
              <a:t>‹#›</a:t>
            </a:fld>
            <a:endParaRPr lang="en-IN"/>
          </a:p>
        </p:txBody>
      </p:sp>
    </p:spTree>
    <p:extLst>
      <p:ext uri="{BB962C8B-B14F-4D97-AF65-F5344CB8AC3E}">
        <p14:creationId xmlns:p14="http://schemas.microsoft.com/office/powerpoint/2010/main" val="4026803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C239D5E-5C3B-8AA3-E35F-0582D005E1F7}"/>
              </a:ext>
            </a:extLst>
          </p:cNvPr>
          <p:cNvPicPr>
            <a:picLocks noChangeAspect="1"/>
          </p:cNvPicPr>
          <p:nvPr/>
        </p:nvPicPr>
        <p:blipFill>
          <a:blip r:embed="rId2"/>
          <a:stretch>
            <a:fillRect/>
          </a:stretch>
        </p:blipFill>
        <p:spPr>
          <a:xfrm>
            <a:off x="870224" y="1063132"/>
            <a:ext cx="6911939" cy="5243014"/>
          </a:xfrm>
          <a:prstGeom prst="rect">
            <a:avLst/>
          </a:prstGeom>
        </p:spPr>
      </p:pic>
      <p:sp>
        <p:nvSpPr>
          <p:cNvPr id="5" name="TextBox 4">
            <a:extLst>
              <a:ext uri="{FF2B5EF4-FFF2-40B4-BE49-F238E27FC236}">
                <a16:creationId xmlns:a16="http://schemas.microsoft.com/office/drawing/2014/main" id="{6BFEA73B-007E-DA1A-0F01-28EA871CB1ED}"/>
              </a:ext>
            </a:extLst>
          </p:cNvPr>
          <p:cNvSpPr txBox="1"/>
          <p:nvPr/>
        </p:nvSpPr>
        <p:spPr>
          <a:xfrm>
            <a:off x="383458" y="209561"/>
            <a:ext cx="6096000" cy="369332"/>
          </a:xfrm>
          <a:prstGeom prst="rect">
            <a:avLst/>
          </a:prstGeom>
          <a:noFill/>
        </p:spPr>
        <p:txBody>
          <a:bodyPr wrap="square">
            <a:spAutoFit/>
          </a:bodyPr>
          <a:lstStyle/>
          <a:p>
            <a:r>
              <a:rPr lang="en-IN" sz="1800" dirty="0">
                <a:effectLst/>
                <a:latin typeface="Aptos" panose="020B0004020202020204" pitchFamily="34" charset="0"/>
                <a:ea typeface="Aptos" panose="020B0004020202020204" pitchFamily="34" charset="0"/>
                <a:cs typeface="Times New Roman" panose="02020603050405020304" pitchFamily="18" charset="0"/>
              </a:rPr>
              <a:t>1. Load the data file using pandas.</a:t>
            </a:r>
            <a:endParaRPr lang="en-IN" dirty="0"/>
          </a:p>
        </p:txBody>
      </p:sp>
    </p:spTree>
    <p:extLst>
      <p:ext uri="{BB962C8B-B14F-4D97-AF65-F5344CB8AC3E}">
        <p14:creationId xmlns:p14="http://schemas.microsoft.com/office/powerpoint/2010/main" val="37207273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9C8742C-45A9-6DBF-6EAE-D2FCC5A50CC7}"/>
              </a:ext>
            </a:extLst>
          </p:cNvPr>
          <p:cNvSpPr txBox="1"/>
          <p:nvPr/>
        </p:nvSpPr>
        <p:spPr>
          <a:xfrm>
            <a:off x="167149" y="351694"/>
            <a:ext cx="9537290" cy="378565"/>
          </a:xfrm>
          <a:prstGeom prst="rect">
            <a:avLst/>
          </a:prstGeom>
          <a:noFill/>
        </p:spPr>
        <p:txBody>
          <a:bodyPr wrap="square">
            <a:spAutoFit/>
          </a:bodyPr>
          <a:lstStyle/>
          <a:p>
            <a:pPr marL="180340">
              <a:lnSpc>
                <a:spcPct val="107000"/>
              </a:lnSpc>
              <a:spcAft>
                <a:spcPts val="800"/>
              </a:spcAft>
            </a:pPr>
            <a:r>
              <a:rPr lang="en-IN" kern="100" dirty="0">
                <a:effectLst/>
                <a:latin typeface="Aptos" panose="020B0004020202020204" pitchFamily="34" charset="0"/>
                <a:ea typeface="Aptos" panose="020B0004020202020204" pitchFamily="34" charset="0"/>
                <a:cs typeface="Times New Roman" panose="02020603050405020304" pitchFamily="18" charset="0"/>
              </a:rPr>
              <a:t> 2. Check for null values in the data. Get the number of null values for each column.</a:t>
            </a:r>
          </a:p>
        </p:txBody>
      </p:sp>
      <p:pic>
        <p:nvPicPr>
          <p:cNvPr id="5" name="Picture 4">
            <a:extLst>
              <a:ext uri="{FF2B5EF4-FFF2-40B4-BE49-F238E27FC236}">
                <a16:creationId xmlns:a16="http://schemas.microsoft.com/office/drawing/2014/main" id="{13821D8D-32A3-28F3-D59E-FD0B7590B2AF}"/>
              </a:ext>
            </a:extLst>
          </p:cNvPr>
          <p:cNvPicPr>
            <a:picLocks noChangeAspect="1"/>
          </p:cNvPicPr>
          <p:nvPr/>
        </p:nvPicPr>
        <p:blipFill>
          <a:blip r:embed="rId2"/>
          <a:stretch>
            <a:fillRect/>
          </a:stretch>
        </p:blipFill>
        <p:spPr>
          <a:xfrm>
            <a:off x="330970" y="971337"/>
            <a:ext cx="11530059" cy="4915326"/>
          </a:xfrm>
          <a:prstGeom prst="rect">
            <a:avLst/>
          </a:prstGeom>
        </p:spPr>
      </p:pic>
    </p:spTree>
    <p:extLst>
      <p:ext uri="{BB962C8B-B14F-4D97-AF65-F5344CB8AC3E}">
        <p14:creationId xmlns:p14="http://schemas.microsoft.com/office/powerpoint/2010/main" val="37817730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F64E1C3-E5F9-7FE0-AD57-9CB8725F44DE}"/>
              </a:ext>
            </a:extLst>
          </p:cNvPr>
          <p:cNvSpPr txBox="1"/>
          <p:nvPr/>
        </p:nvSpPr>
        <p:spPr>
          <a:xfrm>
            <a:off x="255638" y="287282"/>
            <a:ext cx="6096000" cy="369332"/>
          </a:xfrm>
          <a:prstGeom prst="rect">
            <a:avLst/>
          </a:prstGeom>
          <a:noFill/>
        </p:spPr>
        <p:txBody>
          <a:bodyPr wrap="square">
            <a:spAutoFit/>
          </a:bodyPr>
          <a:lstStyle/>
          <a:p>
            <a:r>
              <a:rPr lang="en-IN" sz="1800" dirty="0">
                <a:effectLst/>
                <a:latin typeface="Aptos" panose="020B0004020202020204" pitchFamily="34" charset="0"/>
                <a:ea typeface="Aptos" panose="020B0004020202020204" pitchFamily="34" charset="0"/>
                <a:cs typeface="Times New Roman" panose="02020603050405020304" pitchFamily="18" charset="0"/>
              </a:rPr>
              <a:t>3. Drop records with nulls in any of the columns.</a:t>
            </a:r>
            <a:endParaRPr lang="en-IN" dirty="0"/>
          </a:p>
        </p:txBody>
      </p:sp>
      <p:pic>
        <p:nvPicPr>
          <p:cNvPr id="5" name="Picture 4">
            <a:extLst>
              <a:ext uri="{FF2B5EF4-FFF2-40B4-BE49-F238E27FC236}">
                <a16:creationId xmlns:a16="http://schemas.microsoft.com/office/drawing/2014/main" id="{D41827F3-E95A-1D31-17F6-5D9F63EEF798}"/>
              </a:ext>
            </a:extLst>
          </p:cNvPr>
          <p:cNvPicPr>
            <a:picLocks noChangeAspect="1"/>
          </p:cNvPicPr>
          <p:nvPr/>
        </p:nvPicPr>
        <p:blipFill>
          <a:blip r:embed="rId2"/>
          <a:stretch>
            <a:fillRect/>
          </a:stretch>
        </p:blipFill>
        <p:spPr>
          <a:xfrm>
            <a:off x="1566768" y="1222552"/>
            <a:ext cx="5715495" cy="2072820"/>
          </a:xfrm>
          <a:prstGeom prst="rect">
            <a:avLst/>
          </a:prstGeom>
        </p:spPr>
      </p:pic>
    </p:spTree>
    <p:extLst>
      <p:ext uri="{BB962C8B-B14F-4D97-AF65-F5344CB8AC3E}">
        <p14:creationId xmlns:p14="http://schemas.microsoft.com/office/powerpoint/2010/main" val="29080929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C700C52-E246-261D-6184-9129C1C75A8F}"/>
              </a:ext>
            </a:extLst>
          </p:cNvPr>
          <p:cNvSpPr txBox="1"/>
          <p:nvPr/>
        </p:nvSpPr>
        <p:spPr>
          <a:xfrm>
            <a:off x="521110" y="469678"/>
            <a:ext cx="10314038" cy="2537105"/>
          </a:xfrm>
          <a:prstGeom prst="rect">
            <a:avLst/>
          </a:prstGeom>
          <a:noFill/>
        </p:spPr>
        <p:txBody>
          <a:bodyPr wrap="square">
            <a:spAutoFit/>
          </a:bodyPr>
          <a:lstStyle/>
          <a:p>
            <a:pPr lvl="0">
              <a:lnSpc>
                <a:spcPct val="107000"/>
              </a:lnSpc>
              <a:spcAft>
                <a:spcPts val="800"/>
              </a:spcAft>
              <a:tabLst>
                <a:tab pos="457200" algn="l"/>
              </a:tabLst>
            </a:pPr>
            <a:r>
              <a:rPr lang="en-IN" sz="1100" kern="100" dirty="0">
                <a:effectLst/>
                <a:latin typeface="Aptos" panose="020B0004020202020204" pitchFamily="34" charset="0"/>
                <a:ea typeface="Aptos" panose="020B0004020202020204" pitchFamily="34" charset="0"/>
                <a:cs typeface="Times New Roman" panose="02020603050405020304" pitchFamily="18" charset="0"/>
              </a:rPr>
              <a:t>4. Variables seem to have incorrect type and inconsistent formatting. You need to fix them: </a:t>
            </a:r>
          </a:p>
          <a:p>
            <a:pPr marL="228600" indent="228600">
              <a:lnSpc>
                <a:spcPct val="107000"/>
              </a:lnSpc>
              <a:spcAft>
                <a:spcPts val="800"/>
              </a:spcAft>
            </a:pPr>
            <a:r>
              <a:rPr lang="en-IN" sz="1100" kern="100" dirty="0">
                <a:effectLst/>
                <a:latin typeface="Aptos" panose="020B0004020202020204" pitchFamily="34" charset="0"/>
                <a:ea typeface="Aptos" panose="020B0004020202020204" pitchFamily="34" charset="0"/>
                <a:cs typeface="Times New Roman" panose="02020603050405020304" pitchFamily="18" charset="0"/>
              </a:rPr>
              <a:t>-&gt;Size column has sizes in </a:t>
            </a:r>
            <a:r>
              <a:rPr lang="en-IN" sz="1100" kern="100" dirty="0" err="1">
                <a:effectLst/>
                <a:latin typeface="Aptos" panose="020B0004020202020204" pitchFamily="34" charset="0"/>
                <a:ea typeface="Aptos" panose="020B0004020202020204" pitchFamily="34" charset="0"/>
                <a:cs typeface="Times New Roman" panose="02020603050405020304" pitchFamily="18" charset="0"/>
              </a:rPr>
              <a:t>Kb</a:t>
            </a:r>
            <a:r>
              <a:rPr lang="en-IN" sz="1100" kern="100" dirty="0">
                <a:effectLst/>
                <a:latin typeface="Aptos" panose="020B0004020202020204" pitchFamily="34" charset="0"/>
                <a:ea typeface="Aptos" panose="020B0004020202020204" pitchFamily="34" charset="0"/>
                <a:cs typeface="Times New Roman" panose="02020603050405020304" pitchFamily="18" charset="0"/>
              </a:rPr>
              <a:t> as well as Mb. To </a:t>
            </a:r>
            <a:r>
              <a:rPr lang="en-IN" sz="1100" kern="100" dirty="0" err="1">
                <a:effectLst/>
                <a:latin typeface="Aptos" panose="020B0004020202020204" pitchFamily="34" charset="0"/>
                <a:ea typeface="Aptos" panose="020B0004020202020204" pitchFamily="34" charset="0"/>
                <a:cs typeface="Times New Roman" panose="02020603050405020304" pitchFamily="18" charset="0"/>
              </a:rPr>
              <a:t>analyze</a:t>
            </a:r>
            <a:r>
              <a:rPr lang="en-IN" sz="1100" kern="100" dirty="0">
                <a:effectLst/>
                <a:latin typeface="Aptos" panose="020B0004020202020204" pitchFamily="34" charset="0"/>
                <a:ea typeface="Aptos" panose="020B0004020202020204" pitchFamily="34" charset="0"/>
                <a:cs typeface="Times New Roman" panose="02020603050405020304" pitchFamily="18" charset="0"/>
              </a:rPr>
              <a:t>, you’ll need to convert these to numeric.</a:t>
            </a:r>
          </a:p>
          <a:p>
            <a:pPr marL="742950" lvl="1" indent="-285750">
              <a:lnSpc>
                <a:spcPct val="107000"/>
              </a:lnSpc>
              <a:spcAft>
                <a:spcPts val="800"/>
              </a:spcAft>
              <a:buFont typeface="+mj-lt"/>
              <a:buAutoNum type="arabicPeriod"/>
              <a:tabLst>
                <a:tab pos="914400" algn="l"/>
              </a:tabLst>
            </a:pPr>
            <a:r>
              <a:rPr lang="en-IN" sz="1100" kern="100" dirty="0">
                <a:effectLst/>
                <a:latin typeface="Aptos" panose="020B0004020202020204" pitchFamily="34" charset="0"/>
                <a:ea typeface="Aptos" panose="020B0004020202020204" pitchFamily="34" charset="0"/>
                <a:cs typeface="Times New Roman" panose="02020603050405020304" pitchFamily="18" charset="0"/>
              </a:rPr>
              <a:t>Extract the numeric value from the column</a:t>
            </a:r>
          </a:p>
          <a:p>
            <a:pPr marL="742950" lvl="1" indent="-285750">
              <a:lnSpc>
                <a:spcPct val="107000"/>
              </a:lnSpc>
              <a:spcAft>
                <a:spcPts val="800"/>
              </a:spcAft>
              <a:buFont typeface="+mj-lt"/>
              <a:buAutoNum type="arabicPeriod"/>
              <a:tabLst>
                <a:tab pos="914400" algn="l"/>
              </a:tabLst>
            </a:pPr>
            <a:r>
              <a:rPr lang="en-IN" sz="1100" kern="100" dirty="0">
                <a:effectLst/>
                <a:latin typeface="Aptos" panose="020B0004020202020204" pitchFamily="34" charset="0"/>
                <a:ea typeface="Aptos" panose="020B0004020202020204" pitchFamily="34" charset="0"/>
                <a:cs typeface="Times New Roman" panose="02020603050405020304" pitchFamily="18" charset="0"/>
              </a:rPr>
              <a:t>Multiply the value by 1,000, if size is mentioned in Mb</a:t>
            </a:r>
          </a:p>
          <a:p>
            <a:pPr indent="457200">
              <a:lnSpc>
                <a:spcPct val="107000"/>
              </a:lnSpc>
              <a:spcAft>
                <a:spcPts val="800"/>
              </a:spcAft>
            </a:pPr>
            <a:r>
              <a:rPr lang="en-IN" sz="1100" kern="100" dirty="0">
                <a:effectLst/>
                <a:latin typeface="Aptos" panose="020B0004020202020204" pitchFamily="34" charset="0"/>
                <a:ea typeface="Aptos" panose="020B0004020202020204" pitchFamily="34" charset="0"/>
                <a:cs typeface="Times New Roman" panose="02020603050405020304" pitchFamily="18" charset="0"/>
              </a:rPr>
              <a:t>-&gt;Reviews is a numeric field that is loaded as a string field. Convert it to numeric (int/float).</a:t>
            </a:r>
          </a:p>
          <a:p>
            <a:pPr indent="457200">
              <a:lnSpc>
                <a:spcPct val="107000"/>
              </a:lnSpc>
              <a:spcAft>
                <a:spcPts val="800"/>
              </a:spcAft>
            </a:pPr>
            <a:r>
              <a:rPr lang="en-IN" sz="1100" kern="100" dirty="0">
                <a:effectLst/>
                <a:latin typeface="Aptos" panose="020B0004020202020204" pitchFamily="34" charset="0"/>
                <a:ea typeface="Aptos" panose="020B0004020202020204" pitchFamily="34" charset="0"/>
                <a:cs typeface="Times New Roman" panose="02020603050405020304" pitchFamily="18" charset="0"/>
              </a:rPr>
              <a:t>-&gt;Installs field is currently stored as string and has values like 1,000,000+. </a:t>
            </a:r>
          </a:p>
          <a:p>
            <a:pPr marL="228600" indent="457200">
              <a:lnSpc>
                <a:spcPct val="107000"/>
              </a:lnSpc>
              <a:spcAft>
                <a:spcPts val="800"/>
              </a:spcAft>
            </a:pPr>
            <a:r>
              <a:rPr lang="en-IN" sz="1100" kern="100" dirty="0">
                <a:effectLst/>
                <a:latin typeface="Aptos" panose="020B0004020202020204" pitchFamily="34" charset="0"/>
                <a:ea typeface="Aptos" panose="020B0004020202020204" pitchFamily="34" charset="0"/>
                <a:cs typeface="Times New Roman" panose="02020603050405020304" pitchFamily="18" charset="0"/>
              </a:rPr>
              <a:t>1.Treat 1,000,000+ as 1,000,000</a:t>
            </a:r>
          </a:p>
          <a:p>
            <a:pPr marL="228600" indent="457200">
              <a:lnSpc>
                <a:spcPct val="107000"/>
              </a:lnSpc>
              <a:spcAft>
                <a:spcPts val="800"/>
              </a:spcAft>
            </a:pPr>
            <a:r>
              <a:rPr lang="en-IN" sz="1100" kern="100" dirty="0">
                <a:effectLst/>
                <a:latin typeface="Aptos" panose="020B0004020202020204" pitchFamily="34" charset="0"/>
                <a:ea typeface="Aptos" panose="020B0004020202020204" pitchFamily="34" charset="0"/>
                <a:cs typeface="Times New Roman" panose="02020603050405020304" pitchFamily="18" charset="0"/>
              </a:rPr>
              <a:t>2.remove ‘+’, ‘,’ from the field, convert it to integer</a:t>
            </a:r>
          </a:p>
          <a:p>
            <a:pPr indent="457200">
              <a:lnSpc>
                <a:spcPct val="107000"/>
              </a:lnSpc>
              <a:spcAft>
                <a:spcPts val="800"/>
              </a:spcAft>
            </a:pPr>
            <a:r>
              <a:rPr lang="en-IN" sz="1100" kern="100" dirty="0">
                <a:effectLst/>
                <a:latin typeface="Aptos" panose="020B0004020202020204" pitchFamily="34" charset="0"/>
                <a:ea typeface="Aptos" panose="020B0004020202020204" pitchFamily="34" charset="0"/>
                <a:cs typeface="Times New Roman" panose="02020603050405020304" pitchFamily="18" charset="0"/>
              </a:rPr>
              <a:t>-&gt;Price field is a string and has $ symbol. Remove ‘$’ sign, and convert it to numeric.</a:t>
            </a:r>
          </a:p>
        </p:txBody>
      </p:sp>
      <p:pic>
        <p:nvPicPr>
          <p:cNvPr id="4" name="Picture 3" descr="A screenshot of a computer&#10;&#10;AI-generated content may be incorrect.">
            <a:extLst>
              <a:ext uri="{FF2B5EF4-FFF2-40B4-BE49-F238E27FC236}">
                <a16:creationId xmlns:a16="http://schemas.microsoft.com/office/drawing/2014/main" id="{536BD57F-4CD9-3927-6C52-3B9B3F38CA36}"/>
              </a:ext>
            </a:extLst>
          </p:cNvPr>
          <p:cNvPicPr>
            <a:picLocks noChangeAspect="1"/>
          </p:cNvPicPr>
          <p:nvPr/>
        </p:nvPicPr>
        <p:blipFill>
          <a:blip r:embed="rId2"/>
          <a:stretch>
            <a:fillRect/>
          </a:stretch>
        </p:blipFill>
        <p:spPr>
          <a:xfrm>
            <a:off x="521110" y="3234813"/>
            <a:ext cx="5673213" cy="3122124"/>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E55B9E11-6651-1E62-4281-8301F1272AAD}"/>
              </a:ext>
            </a:extLst>
          </p:cNvPr>
          <p:cNvPicPr>
            <a:picLocks noChangeAspect="1"/>
          </p:cNvPicPr>
          <p:nvPr/>
        </p:nvPicPr>
        <p:blipFill>
          <a:blip r:embed="rId2"/>
          <a:stretch>
            <a:fillRect/>
          </a:stretch>
        </p:blipFill>
        <p:spPr>
          <a:xfrm>
            <a:off x="6558115" y="3234813"/>
            <a:ext cx="4935445" cy="3122124"/>
          </a:xfrm>
          <a:prstGeom prst="rect">
            <a:avLst/>
          </a:prstGeom>
        </p:spPr>
      </p:pic>
    </p:spTree>
    <p:extLst>
      <p:ext uri="{BB962C8B-B14F-4D97-AF65-F5344CB8AC3E}">
        <p14:creationId xmlns:p14="http://schemas.microsoft.com/office/powerpoint/2010/main" val="9846423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 program&#10;&#10;AI-generated content may be incorrect.">
            <a:extLst>
              <a:ext uri="{FF2B5EF4-FFF2-40B4-BE49-F238E27FC236}">
                <a16:creationId xmlns:a16="http://schemas.microsoft.com/office/drawing/2014/main" id="{A850B93E-D3BC-EDAF-066B-6E0BAEDD1606}"/>
              </a:ext>
            </a:extLst>
          </p:cNvPr>
          <p:cNvPicPr>
            <a:picLocks noChangeAspect="1"/>
          </p:cNvPicPr>
          <p:nvPr/>
        </p:nvPicPr>
        <p:blipFill>
          <a:blip r:embed="rId2"/>
          <a:stretch>
            <a:fillRect/>
          </a:stretch>
        </p:blipFill>
        <p:spPr>
          <a:xfrm>
            <a:off x="0" y="-1"/>
            <a:ext cx="5731510" cy="4847303"/>
          </a:xfrm>
          <a:prstGeom prst="rect">
            <a:avLst/>
          </a:prstGeom>
        </p:spPr>
      </p:pic>
      <p:pic>
        <p:nvPicPr>
          <p:cNvPr id="3" name="Picture 2" descr="A screenshot of a computer&#10;&#10;AI-generated content may be incorrect.">
            <a:extLst>
              <a:ext uri="{FF2B5EF4-FFF2-40B4-BE49-F238E27FC236}">
                <a16:creationId xmlns:a16="http://schemas.microsoft.com/office/drawing/2014/main" id="{1E0911F8-B193-5EBB-6D23-E2F82766D802}"/>
              </a:ext>
            </a:extLst>
          </p:cNvPr>
          <p:cNvPicPr>
            <a:picLocks noChangeAspect="1"/>
          </p:cNvPicPr>
          <p:nvPr/>
        </p:nvPicPr>
        <p:blipFill>
          <a:blip r:embed="rId3"/>
          <a:stretch>
            <a:fillRect/>
          </a:stretch>
        </p:blipFill>
        <p:spPr>
          <a:xfrm>
            <a:off x="5825961" y="-1"/>
            <a:ext cx="5731510" cy="4532671"/>
          </a:xfrm>
          <a:prstGeom prst="rect">
            <a:avLst/>
          </a:prstGeom>
        </p:spPr>
      </p:pic>
    </p:spTree>
    <p:extLst>
      <p:ext uri="{BB962C8B-B14F-4D97-AF65-F5344CB8AC3E}">
        <p14:creationId xmlns:p14="http://schemas.microsoft.com/office/powerpoint/2010/main" val="5048639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8D761D6-0E6C-21B9-4D0B-0E15A71E3030}"/>
              </a:ext>
            </a:extLst>
          </p:cNvPr>
          <p:cNvSpPr txBox="1"/>
          <p:nvPr/>
        </p:nvSpPr>
        <p:spPr>
          <a:xfrm>
            <a:off x="167148" y="74035"/>
            <a:ext cx="11867536" cy="2168158"/>
          </a:xfrm>
          <a:prstGeom prst="rect">
            <a:avLst/>
          </a:prstGeom>
          <a:noFill/>
        </p:spPr>
        <p:txBody>
          <a:bodyPr wrap="square">
            <a:spAutoFit/>
          </a:bodyPr>
          <a:lstStyle/>
          <a:p>
            <a:pPr>
              <a:lnSpc>
                <a:spcPct val="107000"/>
              </a:lnSpc>
              <a:spcAft>
                <a:spcPts val="800"/>
              </a:spcAf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5. Sanity checks:</a:t>
            </a:r>
          </a:p>
          <a:p>
            <a:pPr>
              <a:lnSpc>
                <a:spcPct val="107000"/>
              </a:lnSpc>
              <a:spcAft>
                <a:spcPts val="800"/>
              </a:spcAf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1. Average rating should be between 1 and 5 as only these values are allowed on the play store. Drop the rows that have a value outside this range.</a:t>
            </a:r>
          </a:p>
          <a:p>
            <a:pPr>
              <a:lnSpc>
                <a:spcPct val="107000"/>
              </a:lnSpc>
              <a:spcAft>
                <a:spcPts val="800"/>
              </a:spcAf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2. Reviews should not be more than installs as only those who installed can review the app. If there are any such records, drop them.</a:t>
            </a:r>
          </a:p>
          <a:p>
            <a:pPr>
              <a:lnSpc>
                <a:spcPct val="107000"/>
              </a:lnSpc>
              <a:spcAft>
                <a:spcPts val="800"/>
              </a:spcAf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3. For free apps (type = “Free”), the price should not be &gt;0. Drop any such rows.</a:t>
            </a:r>
          </a:p>
        </p:txBody>
      </p:sp>
      <p:pic>
        <p:nvPicPr>
          <p:cNvPr id="5" name="Picture 4">
            <a:extLst>
              <a:ext uri="{FF2B5EF4-FFF2-40B4-BE49-F238E27FC236}">
                <a16:creationId xmlns:a16="http://schemas.microsoft.com/office/drawing/2014/main" id="{EEB2F199-B591-07F3-8472-440FDCBDA62F}"/>
              </a:ext>
            </a:extLst>
          </p:cNvPr>
          <p:cNvPicPr>
            <a:picLocks noChangeAspect="1"/>
          </p:cNvPicPr>
          <p:nvPr/>
        </p:nvPicPr>
        <p:blipFill>
          <a:blip r:embed="rId2"/>
          <a:stretch>
            <a:fillRect/>
          </a:stretch>
        </p:blipFill>
        <p:spPr>
          <a:xfrm>
            <a:off x="914400" y="2379406"/>
            <a:ext cx="8760542" cy="3861591"/>
          </a:xfrm>
          <a:prstGeom prst="rect">
            <a:avLst/>
          </a:prstGeom>
        </p:spPr>
      </p:pic>
    </p:spTree>
    <p:extLst>
      <p:ext uri="{BB962C8B-B14F-4D97-AF65-F5344CB8AC3E}">
        <p14:creationId xmlns:p14="http://schemas.microsoft.com/office/powerpoint/2010/main" val="30873674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6A2A096-38DE-D9A2-06A0-D81254A78219}"/>
              </a:ext>
            </a:extLst>
          </p:cNvPr>
          <p:cNvSpPr txBox="1"/>
          <p:nvPr/>
        </p:nvSpPr>
        <p:spPr>
          <a:xfrm>
            <a:off x="235974" y="232986"/>
            <a:ext cx="11346426" cy="2247731"/>
          </a:xfrm>
          <a:prstGeom prst="rect">
            <a:avLst/>
          </a:prstGeom>
          <a:noFill/>
        </p:spPr>
        <p:txBody>
          <a:bodyPr wrap="square">
            <a:spAutoFit/>
          </a:bodyPr>
          <a:lstStyle/>
          <a:p>
            <a:pPr>
              <a:lnSpc>
                <a:spcPct val="107000"/>
              </a:lnSpc>
              <a:spcAft>
                <a:spcPts val="800"/>
              </a:spcAft>
            </a:pPr>
            <a:r>
              <a:rPr lang="en-IN" sz="1100" kern="100" dirty="0">
                <a:effectLst/>
                <a:latin typeface="Aptos" panose="020B0004020202020204" pitchFamily="34" charset="0"/>
                <a:ea typeface="Aptos" panose="020B0004020202020204" pitchFamily="34" charset="0"/>
                <a:cs typeface="Times New Roman" panose="02020603050405020304" pitchFamily="18" charset="0"/>
              </a:rPr>
              <a:t>6. Performing univariate analysis: </a:t>
            </a:r>
          </a:p>
          <a:p>
            <a:pPr marL="342900" lvl="0" indent="-342900">
              <a:lnSpc>
                <a:spcPct val="107000"/>
              </a:lnSpc>
              <a:spcAft>
                <a:spcPts val="800"/>
              </a:spcAft>
              <a:buSzPts val="1000"/>
              <a:buFont typeface="Symbol" panose="05050102010706020507" pitchFamily="18" charset="2"/>
              <a:buChar char=""/>
              <a:tabLst>
                <a:tab pos="457200" algn="l"/>
              </a:tabLst>
            </a:pPr>
            <a:r>
              <a:rPr lang="en-IN" sz="1100" kern="100" dirty="0">
                <a:effectLst/>
                <a:latin typeface="Aptos" panose="020B0004020202020204" pitchFamily="34" charset="0"/>
                <a:ea typeface="Aptos" panose="020B0004020202020204" pitchFamily="34" charset="0"/>
                <a:cs typeface="Times New Roman" panose="02020603050405020304" pitchFamily="18" charset="0"/>
              </a:rPr>
              <a:t>Boxplot for Price</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100" kern="100" dirty="0">
                <a:effectLst/>
                <a:latin typeface="Aptos" panose="020B0004020202020204" pitchFamily="34" charset="0"/>
                <a:ea typeface="Aptos" panose="020B0004020202020204" pitchFamily="34" charset="0"/>
                <a:cs typeface="Times New Roman" panose="02020603050405020304" pitchFamily="18" charset="0"/>
              </a:rPr>
              <a:t>Are there any outliers? Think about the price of usual apps on Play Store.</a:t>
            </a:r>
          </a:p>
          <a:p>
            <a:pPr marL="342900" lvl="0" indent="-342900">
              <a:lnSpc>
                <a:spcPct val="107000"/>
              </a:lnSpc>
              <a:spcAft>
                <a:spcPts val="800"/>
              </a:spcAft>
              <a:buSzPts val="1000"/>
              <a:buFont typeface="Symbol" panose="05050102010706020507" pitchFamily="18" charset="2"/>
              <a:buChar char=""/>
              <a:tabLst>
                <a:tab pos="457200" algn="l"/>
              </a:tabLst>
            </a:pPr>
            <a:r>
              <a:rPr lang="en-IN" sz="1100" kern="100" dirty="0">
                <a:effectLst/>
                <a:latin typeface="Aptos" panose="020B0004020202020204" pitchFamily="34" charset="0"/>
                <a:ea typeface="Aptos" panose="020B0004020202020204" pitchFamily="34" charset="0"/>
                <a:cs typeface="Times New Roman" panose="02020603050405020304" pitchFamily="18" charset="0"/>
              </a:rPr>
              <a:t>Boxplot for Reviews</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100" kern="100" dirty="0">
                <a:effectLst/>
                <a:latin typeface="Aptos" panose="020B0004020202020204" pitchFamily="34" charset="0"/>
                <a:ea typeface="Aptos" panose="020B0004020202020204" pitchFamily="34" charset="0"/>
                <a:cs typeface="Times New Roman" panose="02020603050405020304" pitchFamily="18" charset="0"/>
              </a:rPr>
              <a:t>Are there any apps with very high number of reviews? Do the values seem right?</a:t>
            </a:r>
          </a:p>
          <a:p>
            <a:pPr marL="342900" lvl="0" indent="-342900">
              <a:lnSpc>
                <a:spcPct val="107000"/>
              </a:lnSpc>
              <a:spcAft>
                <a:spcPts val="800"/>
              </a:spcAft>
              <a:buSzPts val="1000"/>
              <a:buFont typeface="Symbol" panose="05050102010706020507" pitchFamily="18" charset="2"/>
              <a:buChar char=""/>
              <a:tabLst>
                <a:tab pos="457200" algn="l"/>
              </a:tabLst>
            </a:pPr>
            <a:r>
              <a:rPr lang="en-IN" sz="1100" kern="100" dirty="0">
                <a:effectLst/>
                <a:latin typeface="Aptos" panose="020B0004020202020204" pitchFamily="34" charset="0"/>
                <a:ea typeface="Aptos" panose="020B0004020202020204" pitchFamily="34" charset="0"/>
                <a:cs typeface="Times New Roman" panose="02020603050405020304" pitchFamily="18" charset="0"/>
              </a:rPr>
              <a:t>Histogram for Rating</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100" kern="100" dirty="0">
                <a:effectLst/>
                <a:latin typeface="Aptos" panose="020B0004020202020204" pitchFamily="34" charset="0"/>
                <a:ea typeface="Aptos" panose="020B0004020202020204" pitchFamily="34" charset="0"/>
                <a:cs typeface="Times New Roman" panose="02020603050405020304" pitchFamily="18" charset="0"/>
              </a:rPr>
              <a:t>How are the ratings distributed? Is it more toward higher ratings?</a:t>
            </a:r>
          </a:p>
          <a:p>
            <a:r>
              <a:rPr lang="en-IN" sz="1100" dirty="0">
                <a:effectLst/>
                <a:latin typeface="Aptos" panose="020B0004020202020204" pitchFamily="34" charset="0"/>
                <a:ea typeface="Aptos" panose="020B0004020202020204" pitchFamily="34" charset="0"/>
                <a:cs typeface="Times New Roman" panose="02020603050405020304" pitchFamily="18" charset="0"/>
              </a:rPr>
              <a:t>Histogram for Size</a:t>
            </a:r>
            <a:endParaRPr lang="en-IN" dirty="0"/>
          </a:p>
        </p:txBody>
      </p:sp>
      <p:pic>
        <p:nvPicPr>
          <p:cNvPr id="5" name="Picture 4">
            <a:extLst>
              <a:ext uri="{FF2B5EF4-FFF2-40B4-BE49-F238E27FC236}">
                <a16:creationId xmlns:a16="http://schemas.microsoft.com/office/drawing/2014/main" id="{1D588F14-278F-E8C7-A56C-9ADA330D77E8}"/>
              </a:ext>
            </a:extLst>
          </p:cNvPr>
          <p:cNvPicPr>
            <a:picLocks noChangeAspect="1"/>
          </p:cNvPicPr>
          <p:nvPr/>
        </p:nvPicPr>
        <p:blipFill>
          <a:blip r:embed="rId2"/>
          <a:stretch>
            <a:fillRect/>
          </a:stretch>
        </p:blipFill>
        <p:spPr>
          <a:xfrm>
            <a:off x="235974" y="2560400"/>
            <a:ext cx="5763691" cy="3253770"/>
          </a:xfrm>
          <a:prstGeom prst="rect">
            <a:avLst/>
          </a:prstGeom>
        </p:spPr>
      </p:pic>
      <p:pic>
        <p:nvPicPr>
          <p:cNvPr id="7" name="Picture 6">
            <a:extLst>
              <a:ext uri="{FF2B5EF4-FFF2-40B4-BE49-F238E27FC236}">
                <a16:creationId xmlns:a16="http://schemas.microsoft.com/office/drawing/2014/main" id="{AAE17B7B-6A72-B11A-E2FB-250377C4D213}"/>
              </a:ext>
            </a:extLst>
          </p:cNvPr>
          <p:cNvPicPr>
            <a:picLocks noChangeAspect="1"/>
          </p:cNvPicPr>
          <p:nvPr/>
        </p:nvPicPr>
        <p:blipFill>
          <a:blip r:embed="rId3"/>
          <a:stretch>
            <a:fillRect/>
          </a:stretch>
        </p:blipFill>
        <p:spPr>
          <a:xfrm>
            <a:off x="6192337" y="2560400"/>
            <a:ext cx="5643291" cy="3391748"/>
          </a:xfrm>
          <a:prstGeom prst="rect">
            <a:avLst/>
          </a:prstGeom>
        </p:spPr>
      </p:pic>
    </p:spTree>
    <p:extLst>
      <p:ext uri="{BB962C8B-B14F-4D97-AF65-F5344CB8AC3E}">
        <p14:creationId xmlns:p14="http://schemas.microsoft.com/office/powerpoint/2010/main" val="39422673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2A207A1-A5D2-1D57-3A82-72D2F5CBE29B}"/>
              </a:ext>
            </a:extLst>
          </p:cNvPr>
          <p:cNvPicPr>
            <a:picLocks noChangeAspect="1"/>
          </p:cNvPicPr>
          <p:nvPr/>
        </p:nvPicPr>
        <p:blipFill>
          <a:blip r:embed="rId2"/>
          <a:stretch>
            <a:fillRect/>
          </a:stretch>
        </p:blipFill>
        <p:spPr>
          <a:xfrm>
            <a:off x="153055" y="236369"/>
            <a:ext cx="5942945" cy="5063217"/>
          </a:xfrm>
          <a:prstGeom prst="rect">
            <a:avLst/>
          </a:prstGeom>
        </p:spPr>
      </p:pic>
      <p:pic>
        <p:nvPicPr>
          <p:cNvPr id="5" name="Picture 4">
            <a:extLst>
              <a:ext uri="{FF2B5EF4-FFF2-40B4-BE49-F238E27FC236}">
                <a16:creationId xmlns:a16="http://schemas.microsoft.com/office/drawing/2014/main" id="{34781CC4-1A08-4BAD-50EC-DA5992B5085B}"/>
              </a:ext>
            </a:extLst>
          </p:cNvPr>
          <p:cNvPicPr>
            <a:picLocks noChangeAspect="1"/>
          </p:cNvPicPr>
          <p:nvPr/>
        </p:nvPicPr>
        <p:blipFill>
          <a:blip r:embed="rId3"/>
          <a:stretch>
            <a:fillRect/>
          </a:stretch>
        </p:blipFill>
        <p:spPr>
          <a:xfrm>
            <a:off x="6096000" y="236369"/>
            <a:ext cx="5604387" cy="5299191"/>
          </a:xfrm>
          <a:prstGeom prst="rect">
            <a:avLst/>
          </a:prstGeom>
        </p:spPr>
      </p:pic>
    </p:spTree>
    <p:extLst>
      <p:ext uri="{BB962C8B-B14F-4D97-AF65-F5344CB8AC3E}">
        <p14:creationId xmlns:p14="http://schemas.microsoft.com/office/powerpoint/2010/main" val="37488968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44B0E1-046C-D35B-35D9-6332AC067003}"/>
              </a:ext>
            </a:extLst>
          </p:cNvPr>
          <p:cNvPicPr>
            <a:picLocks noChangeAspect="1"/>
          </p:cNvPicPr>
          <p:nvPr/>
        </p:nvPicPr>
        <p:blipFill>
          <a:blip r:embed="rId2"/>
          <a:stretch>
            <a:fillRect/>
          </a:stretch>
        </p:blipFill>
        <p:spPr>
          <a:xfrm>
            <a:off x="280528" y="3107364"/>
            <a:ext cx="7049111" cy="3337309"/>
          </a:xfrm>
          <a:prstGeom prst="rect">
            <a:avLst/>
          </a:prstGeom>
        </p:spPr>
      </p:pic>
      <p:sp>
        <p:nvSpPr>
          <p:cNvPr id="5" name="TextBox 4">
            <a:extLst>
              <a:ext uri="{FF2B5EF4-FFF2-40B4-BE49-F238E27FC236}">
                <a16:creationId xmlns:a16="http://schemas.microsoft.com/office/drawing/2014/main" id="{B3C7F7E9-A95F-9914-283D-075996C9F6F3}"/>
              </a:ext>
            </a:extLst>
          </p:cNvPr>
          <p:cNvSpPr txBox="1"/>
          <p:nvPr/>
        </p:nvSpPr>
        <p:spPr>
          <a:xfrm>
            <a:off x="359186" y="232106"/>
            <a:ext cx="9532066" cy="2694199"/>
          </a:xfrm>
          <a:prstGeom prst="rect">
            <a:avLst/>
          </a:prstGeom>
          <a:noFill/>
        </p:spPr>
        <p:txBody>
          <a:bodyPr wrap="square">
            <a:spAutoFit/>
          </a:bodyPr>
          <a:lstStyle/>
          <a:p>
            <a:pPr>
              <a:lnSpc>
                <a:spcPct val="107000"/>
              </a:lnSpc>
              <a:spcAft>
                <a:spcPts val="800"/>
              </a:spcAft>
            </a:pPr>
            <a:r>
              <a:rPr lang="en-IN" sz="1100" kern="100" dirty="0">
                <a:effectLst/>
                <a:latin typeface="Aptos" panose="020B0004020202020204" pitchFamily="34" charset="0"/>
                <a:ea typeface="Aptos" panose="020B0004020202020204" pitchFamily="34" charset="0"/>
                <a:cs typeface="Times New Roman" panose="02020603050405020304" pitchFamily="18" charset="0"/>
              </a:rPr>
              <a:t>6. Outlier treatment: </a:t>
            </a:r>
          </a:p>
          <a:p>
            <a:pPr>
              <a:lnSpc>
                <a:spcPct val="107000"/>
              </a:lnSpc>
              <a:spcAft>
                <a:spcPts val="800"/>
              </a:spcAft>
            </a:pPr>
            <a:r>
              <a:rPr lang="en-IN" sz="1100" kern="100" dirty="0">
                <a:effectLst/>
                <a:latin typeface="Aptos" panose="020B0004020202020204" pitchFamily="34" charset="0"/>
                <a:ea typeface="Aptos" panose="020B0004020202020204" pitchFamily="34" charset="0"/>
                <a:cs typeface="Times New Roman" panose="02020603050405020304" pitchFamily="18" charset="0"/>
              </a:rPr>
              <a:t>- &gt; Price: From the box plot, it seems like there are some apps with very high price. A price of $200 for an application on the Play Store is very high and suspicious!</a:t>
            </a:r>
          </a:p>
          <a:p>
            <a:pPr>
              <a:lnSpc>
                <a:spcPct val="107000"/>
              </a:lnSpc>
              <a:spcAft>
                <a:spcPts val="800"/>
              </a:spcAft>
            </a:pPr>
            <a:r>
              <a:rPr lang="en-IN" sz="1100" kern="100" dirty="0">
                <a:effectLst/>
                <a:latin typeface="Aptos" panose="020B0004020202020204" pitchFamily="34" charset="0"/>
                <a:ea typeface="Aptos" panose="020B0004020202020204" pitchFamily="34" charset="0"/>
                <a:cs typeface="Times New Roman" panose="02020603050405020304" pitchFamily="18" charset="0"/>
              </a:rPr>
              <a:t>-&gt; Check out the records with very high price</a:t>
            </a:r>
          </a:p>
          <a:p>
            <a:pPr marL="1143000" lvl="2" indent="-228600">
              <a:lnSpc>
                <a:spcPct val="107000"/>
              </a:lnSpc>
              <a:spcAft>
                <a:spcPts val="800"/>
              </a:spcAft>
              <a:buFont typeface="+mj-lt"/>
              <a:buAutoNum type="arabicPeriod"/>
              <a:tabLst>
                <a:tab pos="1371600" algn="l"/>
              </a:tabLst>
            </a:pPr>
            <a:r>
              <a:rPr lang="en-IN" sz="1100" kern="100" dirty="0">
                <a:effectLst/>
                <a:latin typeface="Aptos" panose="020B0004020202020204" pitchFamily="34" charset="0"/>
                <a:ea typeface="Aptos" panose="020B0004020202020204" pitchFamily="34" charset="0"/>
                <a:cs typeface="Times New Roman" panose="02020603050405020304" pitchFamily="18" charset="0"/>
              </a:rPr>
              <a:t>Is 200 indeed a high price?</a:t>
            </a:r>
          </a:p>
          <a:p>
            <a:pPr marL="1143000" lvl="2" indent="-228600">
              <a:lnSpc>
                <a:spcPct val="107000"/>
              </a:lnSpc>
              <a:buFont typeface="+mj-lt"/>
              <a:buAutoNum type="arabicPeriod"/>
              <a:tabLst>
                <a:tab pos="1371600" algn="l"/>
              </a:tabLst>
            </a:pPr>
            <a:r>
              <a:rPr lang="en-IN" sz="1100" kern="100" dirty="0">
                <a:effectLst/>
                <a:latin typeface="Aptos" panose="020B0004020202020204" pitchFamily="34" charset="0"/>
                <a:ea typeface="Aptos" panose="020B0004020202020204" pitchFamily="34" charset="0"/>
                <a:cs typeface="Times New Roman" panose="02020603050405020304" pitchFamily="18" charset="0"/>
              </a:rPr>
              <a:t>Drop these as most seem to be junk apps</a:t>
            </a:r>
          </a:p>
          <a:p>
            <a:pPr marL="742950" lvl="1" indent="-285750">
              <a:lnSpc>
                <a:spcPct val="107000"/>
              </a:lnSpc>
              <a:buFont typeface="+mj-lt"/>
              <a:buAutoNum type="arabicPeriod"/>
              <a:tabLst>
                <a:tab pos="914400" algn="l"/>
              </a:tabLst>
            </a:pPr>
            <a:r>
              <a:rPr lang="en-IN" sz="1100" kern="100" dirty="0">
                <a:effectLst/>
                <a:latin typeface="Aptos" panose="020B0004020202020204" pitchFamily="34" charset="0"/>
                <a:ea typeface="Aptos" panose="020B0004020202020204" pitchFamily="34" charset="0"/>
                <a:cs typeface="Times New Roman" panose="02020603050405020304" pitchFamily="18" charset="0"/>
              </a:rPr>
              <a:t>Reviews: Very few apps have very high number of reviews. These are all star apps that don’t help with the analysis and, in fact, will skew it. Drop records having more than 2 million reviews.</a:t>
            </a:r>
          </a:p>
          <a:p>
            <a:pPr marL="457200">
              <a:lnSpc>
                <a:spcPct val="107000"/>
              </a:lnSpc>
              <a:spcAft>
                <a:spcPts val="800"/>
              </a:spcAft>
            </a:pPr>
            <a:r>
              <a:rPr lang="en-IN" sz="1100" kern="100" dirty="0">
                <a:effectLst/>
                <a:latin typeface="Aptos" panose="020B0004020202020204" pitchFamily="34" charset="0"/>
                <a:ea typeface="Aptos" panose="020B0004020202020204" pitchFamily="34" charset="0"/>
                <a:cs typeface="Times New Roman" panose="02020603050405020304" pitchFamily="18" charset="0"/>
              </a:rPr>
              <a:t>4. Installs:  There seems to be some outliers in this field too. Apps having very high number of installs should be dropped from the analysis.</a:t>
            </a:r>
          </a:p>
          <a:p>
            <a:pPr>
              <a:lnSpc>
                <a:spcPct val="107000"/>
              </a:lnSpc>
              <a:spcAft>
                <a:spcPts val="800"/>
              </a:spcAft>
            </a:pPr>
            <a:r>
              <a:rPr lang="en-IN" sz="1100" kern="100" dirty="0">
                <a:effectLst/>
                <a:latin typeface="Aptos" panose="020B0004020202020204" pitchFamily="34" charset="0"/>
                <a:ea typeface="Aptos" panose="020B0004020202020204" pitchFamily="34" charset="0"/>
                <a:cs typeface="Times New Roman" panose="02020603050405020304" pitchFamily="18" charset="0"/>
              </a:rPr>
              <a:t> -&gt;Find out the different percentiles – 10, 25, 50, 70, 90, 95, 99</a:t>
            </a:r>
          </a:p>
          <a:p>
            <a:pPr>
              <a:lnSpc>
                <a:spcPct val="107000"/>
              </a:lnSpc>
              <a:spcAft>
                <a:spcPts val="800"/>
              </a:spcAft>
            </a:pPr>
            <a:r>
              <a:rPr lang="en-IN" sz="1100" kern="100" dirty="0">
                <a:effectLst/>
                <a:latin typeface="Aptos" panose="020B0004020202020204" pitchFamily="34" charset="0"/>
                <a:ea typeface="Aptos" panose="020B0004020202020204" pitchFamily="34" charset="0"/>
                <a:cs typeface="Times New Roman" panose="02020603050405020304" pitchFamily="18" charset="0"/>
              </a:rPr>
              <a:t>-&gt; Decide a threshold as cutoff for outlier and drop records having values more than that</a:t>
            </a:r>
          </a:p>
        </p:txBody>
      </p:sp>
      <p:pic>
        <p:nvPicPr>
          <p:cNvPr id="7" name="Picture 6">
            <a:extLst>
              <a:ext uri="{FF2B5EF4-FFF2-40B4-BE49-F238E27FC236}">
                <a16:creationId xmlns:a16="http://schemas.microsoft.com/office/drawing/2014/main" id="{9C9F612B-D1EF-ACF1-2DBA-4E3261705A9B}"/>
              </a:ext>
            </a:extLst>
          </p:cNvPr>
          <p:cNvPicPr>
            <a:picLocks noChangeAspect="1"/>
          </p:cNvPicPr>
          <p:nvPr/>
        </p:nvPicPr>
        <p:blipFill>
          <a:blip r:embed="rId3"/>
          <a:stretch>
            <a:fillRect/>
          </a:stretch>
        </p:blipFill>
        <p:spPr>
          <a:xfrm>
            <a:off x="7539639" y="3829112"/>
            <a:ext cx="4371834" cy="1402202"/>
          </a:xfrm>
          <a:prstGeom prst="rect">
            <a:avLst/>
          </a:prstGeom>
        </p:spPr>
      </p:pic>
    </p:spTree>
    <p:extLst>
      <p:ext uri="{BB962C8B-B14F-4D97-AF65-F5344CB8AC3E}">
        <p14:creationId xmlns:p14="http://schemas.microsoft.com/office/powerpoint/2010/main" val="23003447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14FF2DF-40D8-0A24-AC43-48B076B6AA83}"/>
              </a:ext>
            </a:extLst>
          </p:cNvPr>
          <p:cNvSpPr txBox="1"/>
          <p:nvPr/>
        </p:nvSpPr>
        <p:spPr>
          <a:xfrm>
            <a:off x="0" y="0"/>
            <a:ext cx="11169445" cy="5359801"/>
          </a:xfrm>
          <a:prstGeom prst="rect">
            <a:avLst/>
          </a:prstGeom>
          <a:noFill/>
        </p:spPr>
        <p:txBody>
          <a:bodyPr wrap="square">
            <a:spAutoFit/>
          </a:bodyPr>
          <a:lstStyle/>
          <a:p>
            <a:pPr>
              <a:lnSpc>
                <a:spcPct val="107000"/>
              </a:lnSpc>
              <a:spcAft>
                <a:spcPts val="800"/>
              </a:spcAft>
            </a:pPr>
            <a:r>
              <a:rPr lang="en-IN" kern="100" dirty="0">
                <a:latin typeface="Aptos" panose="020B0004020202020204" pitchFamily="34" charset="0"/>
                <a:ea typeface="Aptos" panose="020B0004020202020204" pitchFamily="34" charset="0"/>
                <a:cs typeface="Times New Roman" panose="02020603050405020304" pitchFamily="18" charset="0"/>
              </a:rPr>
              <a:t>7</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 Bivariate analysis: Let’s look at how the available predictors relate to the variable of interest, i.e., our target variable rating. Make scatter plots (for numeric features) and box plots (for character features) to assess the relations between rating and the other features.</a:t>
            </a:r>
          </a:p>
          <a:p>
            <a:pPr>
              <a:lnSpc>
                <a:spcPct val="107000"/>
              </a:lnSpc>
              <a:spcAft>
                <a:spcPts val="800"/>
              </a:spcAf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1. Make scatter plot/</a:t>
            </a:r>
            <a:r>
              <a:rPr lang="en-IN" sz="1800" kern="100" dirty="0" err="1">
                <a:effectLst/>
                <a:latin typeface="Aptos" panose="020B0004020202020204" pitchFamily="34" charset="0"/>
                <a:ea typeface="Aptos" panose="020B0004020202020204" pitchFamily="34" charset="0"/>
                <a:cs typeface="Times New Roman" panose="02020603050405020304" pitchFamily="18" charset="0"/>
              </a:rPr>
              <a:t>joinplot</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 for Rating vs. Price</a:t>
            </a:r>
          </a:p>
          <a:p>
            <a:pPr>
              <a:lnSpc>
                <a:spcPct val="107000"/>
              </a:lnSpc>
              <a:spcAft>
                <a:spcPts val="800"/>
              </a:spcAf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 -&gt;What pattern do you observe? Does rating increase with price?</a:t>
            </a:r>
          </a:p>
          <a:p>
            <a:pPr>
              <a:lnSpc>
                <a:spcPct val="107000"/>
              </a:lnSpc>
              <a:spcAft>
                <a:spcPts val="800"/>
              </a:spcAf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2. Make scatter plot/</a:t>
            </a:r>
            <a:r>
              <a:rPr lang="en-IN" sz="1800" kern="100" dirty="0" err="1">
                <a:effectLst/>
                <a:latin typeface="Aptos" panose="020B0004020202020204" pitchFamily="34" charset="0"/>
                <a:ea typeface="Aptos" panose="020B0004020202020204" pitchFamily="34" charset="0"/>
                <a:cs typeface="Times New Roman" panose="02020603050405020304" pitchFamily="18" charset="0"/>
              </a:rPr>
              <a:t>joinplot</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 for Rating vs. Size</a:t>
            </a:r>
          </a:p>
          <a:p>
            <a:pPr indent="228600">
              <a:lnSpc>
                <a:spcPct val="107000"/>
              </a:lnSpc>
              <a:spcAft>
                <a:spcPts val="800"/>
              </a:spcAf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-&gt; Are heavier apps rated better?</a:t>
            </a:r>
          </a:p>
          <a:p>
            <a:pPr>
              <a:lnSpc>
                <a:spcPct val="107000"/>
              </a:lnSpc>
              <a:spcAft>
                <a:spcPts val="800"/>
              </a:spcAf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3.Make scatter plot/</a:t>
            </a:r>
            <a:r>
              <a:rPr lang="en-IN" sz="1800" kern="100" dirty="0" err="1">
                <a:effectLst/>
                <a:latin typeface="Aptos" panose="020B0004020202020204" pitchFamily="34" charset="0"/>
                <a:ea typeface="Aptos" panose="020B0004020202020204" pitchFamily="34" charset="0"/>
                <a:cs typeface="Times New Roman" panose="02020603050405020304" pitchFamily="18" charset="0"/>
              </a:rPr>
              <a:t>joinplot</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 for Rating vs. Reviews</a:t>
            </a:r>
          </a:p>
          <a:p>
            <a:pPr indent="228600">
              <a:lnSpc>
                <a:spcPct val="107000"/>
              </a:lnSpc>
              <a:spcAft>
                <a:spcPts val="800"/>
              </a:spcAf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-&gt;Does more review mean a better rating always?</a:t>
            </a:r>
          </a:p>
          <a:p>
            <a:pPr>
              <a:lnSpc>
                <a:spcPct val="107000"/>
              </a:lnSpc>
              <a:spcAft>
                <a:spcPts val="800"/>
              </a:spcAf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4.Make boxplot for Rating vs. Content Rating</a:t>
            </a:r>
          </a:p>
          <a:p>
            <a:pPr indent="228600">
              <a:lnSpc>
                <a:spcPct val="107000"/>
              </a:lnSpc>
              <a:spcAft>
                <a:spcPts val="800"/>
              </a:spcAf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-&gt;Is there any difference in the ratings? Are some types liked better?</a:t>
            </a:r>
          </a:p>
          <a:p>
            <a:pPr>
              <a:lnSpc>
                <a:spcPct val="107000"/>
              </a:lnSpc>
              <a:spcAft>
                <a:spcPts val="800"/>
              </a:spcAf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5.Make boxplot for Ratings vs. Category</a:t>
            </a:r>
          </a:p>
          <a:p>
            <a:pPr>
              <a:lnSpc>
                <a:spcPct val="107000"/>
              </a:lnSpc>
              <a:spcAft>
                <a:spcPts val="800"/>
              </a:spcAf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-&gt;Which genre has the best ratings?</a:t>
            </a:r>
          </a:p>
          <a:p>
            <a:pPr>
              <a:lnSpc>
                <a:spcPct val="107000"/>
              </a:lnSpc>
              <a:spcAft>
                <a:spcPts val="800"/>
              </a:spcAf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For each of the plots above, note down your observation.</a:t>
            </a:r>
          </a:p>
        </p:txBody>
      </p:sp>
    </p:spTree>
    <p:extLst>
      <p:ext uri="{BB962C8B-B14F-4D97-AF65-F5344CB8AC3E}">
        <p14:creationId xmlns:p14="http://schemas.microsoft.com/office/powerpoint/2010/main" val="3573957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graph with blue dots&#10;&#10;AI-generated content may be incorrect.">
            <a:extLst>
              <a:ext uri="{FF2B5EF4-FFF2-40B4-BE49-F238E27FC236}">
                <a16:creationId xmlns:a16="http://schemas.microsoft.com/office/drawing/2014/main" id="{5A628852-0A63-7347-62E5-B66D1B740AF0}"/>
              </a:ext>
            </a:extLst>
          </p:cNvPr>
          <p:cNvPicPr>
            <a:picLocks noChangeAspect="1"/>
          </p:cNvPicPr>
          <p:nvPr/>
        </p:nvPicPr>
        <p:blipFill>
          <a:blip r:embed="rId2"/>
          <a:stretch>
            <a:fillRect/>
          </a:stretch>
        </p:blipFill>
        <p:spPr>
          <a:xfrm>
            <a:off x="0" y="0"/>
            <a:ext cx="5731510" cy="3286125"/>
          </a:xfrm>
          <a:prstGeom prst="rect">
            <a:avLst/>
          </a:prstGeom>
        </p:spPr>
      </p:pic>
      <p:pic>
        <p:nvPicPr>
          <p:cNvPr id="3" name="Picture 2">
            <a:extLst>
              <a:ext uri="{FF2B5EF4-FFF2-40B4-BE49-F238E27FC236}">
                <a16:creationId xmlns:a16="http://schemas.microsoft.com/office/drawing/2014/main" id="{5BA55351-0B58-EA54-2964-7B2AAEAD8AB3}"/>
              </a:ext>
            </a:extLst>
          </p:cNvPr>
          <p:cNvPicPr>
            <a:picLocks noChangeAspect="1"/>
          </p:cNvPicPr>
          <p:nvPr/>
        </p:nvPicPr>
        <p:blipFill>
          <a:blip r:embed="rId3"/>
          <a:stretch>
            <a:fillRect/>
          </a:stretch>
        </p:blipFill>
        <p:spPr>
          <a:xfrm>
            <a:off x="5483684" y="17667"/>
            <a:ext cx="5944115" cy="3268458"/>
          </a:xfrm>
          <a:prstGeom prst="rect">
            <a:avLst/>
          </a:prstGeom>
        </p:spPr>
      </p:pic>
      <p:pic>
        <p:nvPicPr>
          <p:cNvPr id="5" name="Picture 4">
            <a:extLst>
              <a:ext uri="{FF2B5EF4-FFF2-40B4-BE49-F238E27FC236}">
                <a16:creationId xmlns:a16="http://schemas.microsoft.com/office/drawing/2014/main" id="{DD048E11-6D05-444D-C9AA-18F557EFA0D5}"/>
              </a:ext>
            </a:extLst>
          </p:cNvPr>
          <p:cNvPicPr>
            <a:picLocks noChangeAspect="1"/>
          </p:cNvPicPr>
          <p:nvPr/>
        </p:nvPicPr>
        <p:blipFill>
          <a:blip r:embed="rId4"/>
          <a:stretch>
            <a:fillRect/>
          </a:stretch>
        </p:blipFill>
        <p:spPr>
          <a:xfrm>
            <a:off x="0" y="3429000"/>
            <a:ext cx="5299587" cy="3333214"/>
          </a:xfrm>
          <a:prstGeom prst="rect">
            <a:avLst/>
          </a:prstGeom>
        </p:spPr>
      </p:pic>
      <p:pic>
        <p:nvPicPr>
          <p:cNvPr id="7" name="Picture 6">
            <a:extLst>
              <a:ext uri="{FF2B5EF4-FFF2-40B4-BE49-F238E27FC236}">
                <a16:creationId xmlns:a16="http://schemas.microsoft.com/office/drawing/2014/main" id="{BA3C3D3F-2E17-575E-CDE9-9E8C47800CA8}"/>
              </a:ext>
            </a:extLst>
          </p:cNvPr>
          <p:cNvPicPr>
            <a:picLocks noChangeAspect="1"/>
          </p:cNvPicPr>
          <p:nvPr/>
        </p:nvPicPr>
        <p:blipFill>
          <a:blip r:embed="rId5"/>
          <a:stretch>
            <a:fillRect/>
          </a:stretch>
        </p:blipFill>
        <p:spPr>
          <a:xfrm>
            <a:off x="5731510" y="3429000"/>
            <a:ext cx="5547841" cy="3268458"/>
          </a:xfrm>
          <a:prstGeom prst="rect">
            <a:avLst/>
          </a:prstGeom>
        </p:spPr>
      </p:pic>
    </p:spTree>
    <p:extLst>
      <p:ext uri="{BB962C8B-B14F-4D97-AF65-F5344CB8AC3E}">
        <p14:creationId xmlns:p14="http://schemas.microsoft.com/office/powerpoint/2010/main" val="39353393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B3201D-676C-4C46-1D05-132A721CC005}"/>
              </a:ext>
            </a:extLst>
          </p:cNvPr>
          <p:cNvPicPr>
            <a:picLocks noChangeAspect="1"/>
          </p:cNvPicPr>
          <p:nvPr/>
        </p:nvPicPr>
        <p:blipFill>
          <a:blip r:embed="rId2"/>
          <a:stretch>
            <a:fillRect/>
          </a:stretch>
        </p:blipFill>
        <p:spPr>
          <a:xfrm>
            <a:off x="0" y="0"/>
            <a:ext cx="4916129" cy="3326975"/>
          </a:xfrm>
          <a:prstGeom prst="rect">
            <a:avLst/>
          </a:prstGeom>
        </p:spPr>
      </p:pic>
      <p:pic>
        <p:nvPicPr>
          <p:cNvPr id="5" name="Picture 4">
            <a:extLst>
              <a:ext uri="{FF2B5EF4-FFF2-40B4-BE49-F238E27FC236}">
                <a16:creationId xmlns:a16="http://schemas.microsoft.com/office/drawing/2014/main" id="{0C665584-0538-49ED-ECBC-14C9D6185059}"/>
              </a:ext>
            </a:extLst>
          </p:cNvPr>
          <p:cNvPicPr>
            <a:picLocks noChangeAspect="1"/>
          </p:cNvPicPr>
          <p:nvPr/>
        </p:nvPicPr>
        <p:blipFill>
          <a:blip r:embed="rId3"/>
          <a:stretch>
            <a:fillRect/>
          </a:stretch>
        </p:blipFill>
        <p:spPr>
          <a:xfrm>
            <a:off x="5599741" y="0"/>
            <a:ext cx="6203468" cy="3579812"/>
          </a:xfrm>
          <a:prstGeom prst="rect">
            <a:avLst/>
          </a:prstGeom>
        </p:spPr>
      </p:pic>
      <p:pic>
        <p:nvPicPr>
          <p:cNvPr id="7" name="Picture 6">
            <a:extLst>
              <a:ext uri="{FF2B5EF4-FFF2-40B4-BE49-F238E27FC236}">
                <a16:creationId xmlns:a16="http://schemas.microsoft.com/office/drawing/2014/main" id="{6CA374EB-593C-657E-B2DC-4ABA8D41ED3E}"/>
              </a:ext>
            </a:extLst>
          </p:cNvPr>
          <p:cNvPicPr>
            <a:picLocks noChangeAspect="1"/>
          </p:cNvPicPr>
          <p:nvPr/>
        </p:nvPicPr>
        <p:blipFill>
          <a:blip r:embed="rId4"/>
          <a:stretch>
            <a:fillRect/>
          </a:stretch>
        </p:blipFill>
        <p:spPr>
          <a:xfrm>
            <a:off x="388791" y="3785418"/>
            <a:ext cx="8180062" cy="3072581"/>
          </a:xfrm>
          <a:prstGeom prst="rect">
            <a:avLst/>
          </a:prstGeom>
        </p:spPr>
      </p:pic>
    </p:spTree>
    <p:extLst>
      <p:ext uri="{BB962C8B-B14F-4D97-AF65-F5344CB8AC3E}">
        <p14:creationId xmlns:p14="http://schemas.microsoft.com/office/powerpoint/2010/main" val="11110650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C0685AD-4885-C510-A7B7-8C9A2C99B295}"/>
              </a:ext>
            </a:extLst>
          </p:cNvPr>
          <p:cNvSpPr txBox="1"/>
          <p:nvPr/>
        </p:nvSpPr>
        <p:spPr>
          <a:xfrm>
            <a:off x="0" y="0"/>
            <a:ext cx="11454581" cy="2815514"/>
          </a:xfrm>
          <a:prstGeom prst="rect">
            <a:avLst/>
          </a:prstGeom>
          <a:noFill/>
        </p:spPr>
        <p:txBody>
          <a:bodyPr wrap="square">
            <a:spAutoFit/>
          </a:bodyPr>
          <a:lstStyle/>
          <a:p>
            <a:pPr>
              <a:lnSpc>
                <a:spcPct val="107000"/>
              </a:lnSpc>
              <a:spcAft>
                <a:spcPts val="800"/>
              </a:spcAf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8. Data preprocessing</a:t>
            </a:r>
          </a:p>
          <a:p>
            <a:pPr>
              <a:lnSpc>
                <a:spcPct val="107000"/>
              </a:lnSpc>
              <a:spcAft>
                <a:spcPts val="800"/>
              </a:spcAf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For the steps below, create a copy of the </a:t>
            </a:r>
            <a:r>
              <a:rPr lang="en-IN" sz="1800" kern="100" dirty="0" err="1">
                <a:effectLst/>
                <a:latin typeface="Aptos" panose="020B0004020202020204" pitchFamily="34" charset="0"/>
                <a:ea typeface="Aptos" panose="020B0004020202020204" pitchFamily="34" charset="0"/>
                <a:cs typeface="Times New Roman" panose="02020603050405020304" pitchFamily="18" charset="0"/>
              </a:rPr>
              <a:t>dataframe</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 to make all the edits. Name it inp1.</a:t>
            </a:r>
          </a:p>
          <a:p>
            <a:pPr>
              <a:lnSpc>
                <a:spcPct val="107000"/>
              </a:lnSpc>
              <a:spcAft>
                <a:spcPts val="800"/>
              </a:spcAf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1.Reviews and Install have some values that are still relatively very high. Before building a linear regression model, you need to reduce the skew. Apply log transformation (np.log1p) to Reviews and Installs.</a:t>
            </a:r>
          </a:p>
          <a:p>
            <a:pPr>
              <a:lnSpc>
                <a:spcPct val="107000"/>
              </a:lnSpc>
              <a:spcAft>
                <a:spcPts val="800"/>
              </a:spcAf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2.Drop columns App, Last Updated, Current Ver, and Android Ver. These variables are not useful for our task.</a:t>
            </a:r>
          </a:p>
          <a:p>
            <a:r>
              <a:rPr lang="en-IN" sz="1800" dirty="0">
                <a:effectLst/>
                <a:latin typeface="Aptos" panose="020B0004020202020204" pitchFamily="34" charset="0"/>
                <a:ea typeface="Aptos" panose="020B0004020202020204" pitchFamily="34" charset="0"/>
                <a:cs typeface="Times New Roman" panose="02020603050405020304" pitchFamily="18" charset="0"/>
              </a:rPr>
              <a:t>  3.Get dummy columns for Category, Genres, and Content Rating. This needs to be done as the models do not understand categorical data, and all data should be numeric. Dummy encoding is one way to convert character fields to numeric. Name of data frame should be </a:t>
            </a:r>
            <a:r>
              <a:rPr lang="en-IN" sz="1800" b="1" dirty="0">
                <a:effectLst/>
                <a:latin typeface="Aptos" panose="020B0004020202020204" pitchFamily="34" charset="0"/>
                <a:ea typeface="Aptos" panose="020B0004020202020204" pitchFamily="34" charset="0"/>
                <a:cs typeface="Times New Roman" panose="02020603050405020304" pitchFamily="18" charset="0"/>
              </a:rPr>
              <a:t>inp2</a:t>
            </a:r>
            <a:r>
              <a:rPr lang="en-IN" sz="1800" dirty="0">
                <a:effectLst/>
                <a:latin typeface="Aptos" panose="020B0004020202020204" pitchFamily="34" charset="0"/>
                <a:ea typeface="Aptos" panose="020B0004020202020204" pitchFamily="34" charset="0"/>
                <a:cs typeface="Times New Roman" panose="02020603050405020304" pitchFamily="18" charset="0"/>
              </a:rPr>
              <a:t>.</a:t>
            </a:r>
            <a:endParaRPr lang="en-IN" dirty="0"/>
          </a:p>
        </p:txBody>
      </p:sp>
      <p:pic>
        <p:nvPicPr>
          <p:cNvPr id="5" name="Picture 4">
            <a:extLst>
              <a:ext uri="{FF2B5EF4-FFF2-40B4-BE49-F238E27FC236}">
                <a16:creationId xmlns:a16="http://schemas.microsoft.com/office/drawing/2014/main" id="{8C429839-4F04-1356-2605-8F06AC77AB50}"/>
              </a:ext>
            </a:extLst>
          </p:cNvPr>
          <p:cNvPicPr>
            <a:picLocks noChangeAspect="1"/>
          </p:cNvPicPr>
          <p:nvPr/>
        </p:nvPicPr>
        <p:blipFill>
          <a:blip r:embed="rId2"/>
          <a:stretch>
            <a:fillRect/>
          </a:stretch>
        </p:blipFill>
        <p:spPr>
          <a:xfrm>
            <a:off x="122600" y="2887374"/>
            <a:ext cx="6170045" cy="3592083"/>
          </a:xfrm>
          <a:prstGeom prst="rect">
            <a:avLst/>
          </a:prstGeom>
        </p:spPr>
      </p:pic>
      <p:pic>
        <p:nvPicPr>
          <p:cNvPr id="7" name="Picture 6">
            <a:extLst>
              <a:ext uri="{FF2B5EF4-FFF2-40B4-BE49-F238E27FC236}">
                <a16:creationId xmlns:a16="http://schemas.microsoft.com/office/drawing/2014/main" id="{5F06B856-EAB2-0998-77ED-9CFDD3EEDB7F}"/>
              </a:ext>
            </a:extLst>
          </p:cNvPr>
          <p:cNvPicPr>
            <a:picLocks noChangeAspect="1"/>
          </p:cNvPicPr>
          <p:nvPr/>
        </p:nvPicPr>
        <p:blipFill>
          <a:blip r:embed="rId3"/>
          <a:stretch>
            <a:fillRect/>
          </a:stretch>
        </p:blipFill>
        <p:spPr>
          <a:xfrm>
            <a:off x="6096000" y="3083894"/>
            <a:ext cx="5653227" cy="3395563"/>
          </a:xfrm>
          <a:prstGeom prst="rect">
            <a:avLst/>
          </a:prstGeom>
        </p:spPr>
      </p:pic>
    </p:spTree>
    <p:extLst>
      <p:ext uri="{BB962C8B-B14F-4D97-AF65-F5344CB8AC3E}">
        <p14:creationId xmlns:p14="http://schemas.microsoft.com/office/powerpoint/2010/main" val="29290799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6F93598-E457-2EA8-904A-9D462AE98900}"/>
              </a:ext>
            </a:extLst>
          </p:cNvPr>
          <p:cNvPicPr>
            <a:picLocks noChangeAspect="1"/>
          </p:cNvPicPr>
          <p:nvPr/>
        </p:nvPicPr>
        <p:blipFill>
          <a:blip r:embed="rId2"/>
          <a:stretch>
            <a:fillRect/>
          </a:stretch>
        </p:blipFill>
        <p:spPr>
          <a:xfrm>
            <a:off x="161584" y="119048"/>
            <a:ext cx="4897704" cy="3309952"/>
          </a:xfrm>
          <a:prstGeom prst="rect">
            <a:avLst/>
          </a:prstGeom>
        </p:spPr>
      </p:pic>
      <p:pic>
        <p:nvPicPr>
          <p:cNvPr id="5" name="Picture 4">
            <a:extLst>
              <a:ext uri="{FF2B5EF4-FFF2-40B4-BE49-F238E27FC236}">
                <a16:creationId xmlns:a16="http://schemas.microsoft.com/office/drawing/2014/main" id="{7F85F87B-1D9D-1AF3-8D6B-DAAE0165AFBB}"/>
              </a:ext>
            </a:extLst>
          </p:cNvPr>
          <p:cNvPicPr>
            <a:picLocks noChangeAspect="1"/>
          </p:cNvPicPr>
          <p:nvPr/>
        </p:nvPicPr>
        <p:blipFill>
          <a:blip r:embed="rId3"/>
          <a:stretch>
            <a:fillRect/>
          </a:stretch>
        </p:blipFill>
        <p:spPr>
          <a:xfrm>
            <a:off x="5584060" y="119049"/>
            <a:ext cx="5969213" cy="2919120"/>
          </a:xfrm>
          <a:prstGeom prst="rect">
            <a:avLst/>
          </a:prstGeom>
        </p:spPr>
      </p:pic>
      <p:pic>
        <p:nvPicPr>
          <p:cNvPr id="7" name="Picture 6">
            <a:extLst>
              <a:ext uri="{FF2B5EF4-FFF2-40B4-BE49-F238E27FC236}">
                <a16:creationId xmlns:a16="http://schemas.microsoft.com/office/drawing/2014/main" id="{05686998-9B6D-F754-19C9-71CA48E6DD53}"/>
              </a:ext>
            </a:extLst>
          </p:cNvPr>
          <p:cNvPicPr>
            <a:picLocks noChangeAspect="1"/>
          </p:cNvPicPr>
          <p:nvPr/>
        </p:nvPicPr>
        <p:blipFill>
          <a:blip r:embed="rId4"/>
          <a:stretch>
            <a:fillRect/>
          </a:stretch>
        </p:blipFill>
        <p:spPr>
          <a:xfrm>
            <a:off x="108061" y="3523296"/>
            <a:ext cx="5004750" cy="3047708"/>
          </a:xfrm>
          <a:prstGeom prst="rect">
            <a:avLst/>
          </a:prstGeom>
        </p:spPr>
      </p:pic>
      <p:pic>
        <p:nvPicPr>
          <p:cNvPr id="9" name="Picture 8">
            <a:extLst>
              <a:ext uri="{FF2B5EF4-FFF2-40B4-BE49-F238E27FC236}">
                <a16:creationId xmlns:a16="http://schemas.microsoft.com/office/drawing/2014/main" id="{165E0A6B-588B-AAEC-92D2-F411EA0B6B36}"/>
              </a:ext>
            </a:extLst>
          </p:cNvPr>
          <p:cNvPicPr>
            <a:picLocks noChangeAspect="1"/>
          </p:cNvPicPr>
          <p:nvPr/>
        </p:nvPicPr>
        <p:blipFill>
          <a:blip r:embed="rId5"/>
          <a:stretch>
            <a:fillRect/>
          </a:stretch>
        </p:blipFill>
        <p:spPr>
          <a:xfrm>
            <a:off x="5530537" y="3152274"/>
            <a:ext cx="5969213" cy="3705726"/>
          </a:xfrm>
          <a:prstGeom prst="rect">
            <a:avLst/>
          </a:prstGeom>
        </p:spPr>
      </p:pic>
    </p:spTree>
    <p:extLst>
      <p:ext uri="{BB962C8B-B14F-4D97-AF65-F5344CB8AC3E}">
        <p14:creationId xmlns:p14="http://schemas.microsoft.com/office/powerpoint/2010/main" val="7366911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0BEBC04-4161-9B7B-BA2A-CD4346CE55AB}"/>
              </a:ext>
            </a:extLst>
          </p:cNvPr>
          <p:cNvPicPr>
            <a:picLocks noChangeAspect="1"/>
          </p:cNvPicPr>
          <p:nvPr/>
        </p:nvPicPr>
        <p:blipFill>
          <a:blip r:embed="rId2"/>
          <a:stretch>
            <a:fillRect/>
          </a:stretch>
        </p:blipFill>
        <p:spPr>
          <a:xfrm>
            <a:off x="240666" y="106099"/>
            <a:ext cx="5540701" cy="3406818"/>
          </a:xfrm>
          <a:prstGeom prst="rect">
            <a:avLst/>
          </a:prstGeom>
        </p:spPr>
      </p:pic>
      <p:pic>
        <p:nvPicPr>
          <p:cNvPr id="5" name="Picture 4">
            <a:extLst>
              <a:ext uri="{FF2B5EF4-FFF2-40B4-BE49-F238E27FC236}">
                <a16:creationId xmlns:a16="http://schemas.microsoft.com/office/drawing/2014/main" id="{2736D47D-E17B-88F1-B09B-6BB0A5D65E9A}"/>
              </a:ext>
            </a:extLst>
          </p:cNvPr>
          <p:cNvPicPr>
            <a:picLocks noChangeAspect="1"/>
          </p:cNvPicPr>
          <p:nvPr/>
        </p:nvPicPr>
        <p:blipFill>
          <a:blip r:embed="rId3"/>
          <a:stretch>
            <a:fillRect/>
          </a:stretch>
        </p:blipFill>
        <p:spPr>
          <a:xfrm>
            <a:off x="6007509" y="106099"/>
            <a:ext cx="5197025" cy="3322901"/>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5A3DC041-6B86-720F-0350-3089CD1E74DA}"/>
              </a:ext>
            </a:extLst>
          </p:cNvPr>
          <p:cNvPicPr>
            <a:picLocks noChangeAspect="1"/>
          </p:cNvPicPr>
          <p:nvPr/>
        </p:nvPicPr>
        <p:blipFill>
          <a:blip r:embed="rId4"/>
          <a:stretch>
            <a:fillRect/>
          </a:stretch>
        </p:blipFill>
        <p:spPr>
          <a:xfrm>
            <a:off x="145261" y="3605446"/>
            <a:ext cx="5731510" cy="2862580"/>
          </a:xfrm>
          <a:prstGeom prst="rect">
            <a:avLst/>
          </a:prstGeom>
        </p:spPr>
      </p:pic>
    </p:spTree>
    <p:extLst>
      <p:ext uri="{BB962C8B-B14F-4D97-AF65-F5344CB8AC3E}">
        <p14:creationId xmlns:p14="http://schemas.microsoft.com/office/powerpoint/2010/main" val="34042071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17C590D-1D75-EA37-131A-182D00608F09}"/>
              </a:ext>
            </a:extLst>
          </p:cNvPr>
          <p:cNvSpPr txBox="1"/>
          <p:nvPr/>
        </p:nvSpPr>
        <p:spPr>
          <a:xfrm>
            <a:off x="167148" y="151316"/>
            <a:ext cx="11356258" cy="378565"/>
          </a:xfrm>
          <a:prstGeom prst="rect">
            <a:avLst/>
          </a:prstGeom>
          <a:noFill/>
        </p:spPr>
        <p:txBody>
          <a:bodyPr wrap="square">
            <a:spAutoFit/>
          </a:bodyPr>
          <a:lstStyle/>
          <a:p>
            <a:pPr>
              <a:lnSpc>
                <a:spcPct val="107000"/>
              </a:lnSpc>
              <a:spcAft>
                <a:spcPts val="800"/>
              </a:spcAf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 9. Train test split  and apply 70-30 split. Name the new </a:t>
            </a:r>
            <a:r>
              <a:rPr lang="en-IN" sz="1800" kern="100" dirty="0" err="1">
                <a:effectLst/>
                <a:latin typeface="Aptos" panose="020B0004020202020204" pitchFamily="34" charset="0"/>
                <a:ea typeface="Aptos" panose="020B0004020202020204" pitchFamily="34" charset="0"/>
                <a:cs typeface="Times New Roman" panose="02020603050405020304" pitchFamily="18" charset="0"/>
              </a:rPr>
              <a:t>dataframes</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 </a:t>
            </a:r>
            <a:r>
              <a:rPr lang="en-IN" sz="1800" kern="100" dirty="0" err="1">
                <a:effectLst/>
                <a:latin typeface="Aptos" panose="020B0004020202020204" pitchFamily="34" charset="0"/>
                <a:ea typeface="Aptos" panose="020B0004020202020204" pitchFamily="34" charset="0"/>
                <a:cs typeface="Times New Roman" panose="02020603050405020304" pitchFamily="18" charset="0"/>
              </a:rPr>
              <a:t>df_train</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 and </a:t>
            </a:r>
            <a:r>
              <a:rPr lang="en-IN" sz="1800" kern="100" dirty="0" err="1">
                <a:effectLst/>
                <a:latin typeface="Aptos" panose="020B0004020202020204" pitchFamily="34" charset="0"/>
                <a:ea typeface="Aptos" panose="020B0004020202020204" pitchFamily="34" charset="0"/>
                <a:cs typeface="Times New Roman" panose="02020603050405020304" pitchFamily="18" charset="0"/>
              </a:rPr>
              <a:t>df_test</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a:t>
            </a:r>
          </a:p>
        </p:txBody>
      </p:sp>
      <p:sp>
        <p:nvSpPr>
          <p:cNvPr id="5" name="TextBox 4">
            <a:extLst>
              <a:ext uri="{FF2B5EF4-FFF2-40B4-BE49-F238E27FC236}">
                <a16:creationId xmlns:a16="http://schemas.microsoft.com/office/drawing/2014/main" id="{8DF4820E-1CB2-80EE-71FA-3BB9902F1D6A}"/>
              </a:ext>
            </a:extLst>
          </p:cNvPr>
          <p:cNvSpPr txBox="1"/>
          <p:nvPr/>
        </p:nvSpPr>
        <p:spPr>
          <a:xfrm>
            <a:off x="265471" y="2729728"/>
            <a:ext cx="8839200" cy="369332"/>
          </a:xfrm>
          <a:prstGeom prst="rect">
            <a:avLst/>
          </a:prstGeom>
          <a:noFill/>
        </p:spPr>
        <p:txBody>
          <a:bodyPr wrap="square">
            <a:spAutoFit/>
          </a:bodyPr>
          <a:lstStyle/>
          <a:p>
            <a:r>
              <a:rPr lang="en-IN" sz="1800" dirty="0">
                <a:effectLst/>
                <a:latin typeface="Aptos" panose="020B0004020202020204" pitchFamily="34" charset="0"/>
                <a:ea typeface="Aptos" panose="020B0004020202020204" pitchFamily="34" charset="0"/>
                <a:cs typeface="Times New Roman" panose="02020603050405020304" pitchFamily="18" charset="0"/>
              </a:rPr>
              <a:t>10. Separate the </a:t>
            </a:r>
            <a:r>
              <a:rPr lang="en-IN" sz="1800" dirty="0" err="1">
                <a:effectLst/>
                <a:latin typeface="Aptos" panose="020B0004020202020204" pitchFamily="34" charset="0"/>
                <a:ea typeface="Aptos" panose="020B0004020202020204" pitchFamily="34" charset="0"/>
                <a:cs typeface="Times New Roman" panose="02020603050405020304" pitchFamily="18" charset="0"/>
              </a:rPr>
              <a:t>dataframes</a:t>
            </a:r>
            <a:r>
              <a:rPr lang="en-IN" sz="1800" dirty="0">
                <a:effectLst/>
                <a:latin typeface="Aptos" panose="020B0004020202020204" pitchFamily="34" charset="0"/>
                <a:ea typeface="Aptos" panose="020B0004020202020204" pitchFamily="34" charset="0"/>
                <a:cs typeface="Times New Roman" panose="02020603050405020304" pitchFamily="18" charset="0"/>
              </a:rPr>
              <a:t> into </a:t>
            </a:r>
            <a:r>
              <a:rPr lang="en-IN" sz="1800" dirty="0" err="1">
                <a:effectLst/>
                <a:latin typeface="Aptos" panose="020B0004020202020204" pitchFamily="34" charset="0"/>
                <a:ea typeface="Aptos" panose="020B0004020202020204" pitchFamily="34" charset="0"/>
                <a:cs typeface="Times New Roman" panose="02020603050405020304" pitchFamily="18" charset="0"/>
              </a:rPr>
              <a:t>X_train</a:t>
            </a:r>
            <a:r>
              <a:rPr lang="en-IN" sz="1800" dirty="0">
                <a:effectLst/>
                <a:latin typeface="Aptos" panose="020B0004020202020204" pitchFamily="34" charset="0"/>
                <a:ea typeface="Aptos" panose="020B0004020202020204" pitchFamily="34" charset="0"/>
                <a:cs typeface="Times New Roman" panose="02020603050405020304" pitchFamily="18" charset="0"/>
              </a:rPr>
              <a:t>, </a:t>
            </a:r>
            <a:r>
              <a:rPr lang="en-IN" sz="1800" dirty="0" err="1">
                <a:effectLst/>
                <a:latin typeface="Aptos" panose="020B0004020202020204" pitchFamily="34" charset="0"/>
                <a:ea typeface="Aptos" panose="020B0004020202020204" pitchFamily="34" charset="0"/>
                <a:cs typeface="Times New Roman" panose="02020603050405020304" pitchFamily="18" charset="0"/>
              </a:rPr>
              <a:t>y_train</a:t>
            </a:r>
            <a:r>
              <a:rPr lang="en-IN" sz="1800" dirty="0">
                <a:effectLst/>
                <a:latin typeface="Aptos" panose="020B0004020202020204" pitchFamily="34" charset="0"/>
                <a:ea typeface="Aptos" panose="020B0004020202020204" pitchFamily="34" charset="0"/>
                <a:cs typeface="Times New Roman" panose="02020603050405020304" pitchFamily="18" charset="0"/>
              </a:rPr>
              <a:t>, </a:t>
            </a:r>
            <a:r>
              <a:rPr lang="en-IN" sz="1800" dirty="0" err="1">
                <a:effectLst/>
                <a:latin typeface="Aptos" panose="020B0004020202020204" pitchFamily="34" charset="0"/>
                <a:ea typeface="Aptos" panose="020B0004020202020204" pitchFamily="34" charset="0"/>
                <a:cs typeface="Times New Roman" panose="02020603050405020304" pitchFamily="18" charset="0"/>
              </a:rPr>
              <a:t>X_test</a:t>
            </a:r>
            <a:r>
              <a:rPr lang="en-IN" sz="1800" dirty="0">
                <a:effectLst/>
                <a:latin typeface="Aptos" panose="020B0004020202020204" pitchFamily="34" charset="0"/>
                <a:ea typeface="Aptos" panose="020B0004020202020204" pitchFamily="34" charset="0"/>
                <a:cs typeface="Times New Roman" panose="02020603050405020304" pitchFamily="18" charset="0"/>
              </a:rPr>
              <a:t>, and </a:t>
            </a:r>
            <a:r>
              <a:rPr lang="en-IN" sz="1800" dirty="0" err="1">
                <a:effectLst/>
                <a:latin typeface="Aptos" panose="020B0004020202020204" pitchFamily="34" charset="0"/>
                <a:ea typeface="Aptos" panose="020B0004020202020204" pitchFamily="34" charset="0"/>
                <a:cs typeface="Times New Roman" panose="02020603050405020304" pitchFamily="18" charset="0"/>
              </a:rPr>
              <a:t>y_test</a:t>
            </a:r>
            <a:r>
              <a:rPr lang="en-IN" sz="1800" dirty="0">
                <a:effectLst/>
                <a:latin typeface="Aptos" panose="020B0004020202020204" pitchFamily="34" charset="0"/>
                <a:ea typeface="Aptos" panose="020B0004020202020204" pitchFamily="34" charset="0"/>
                <a:cs typeface="Times New Roman" panose="02020603050405020304" pitchFamily="18" charset="0"/>
              </a:rPr>
              <a:t>.</a:t>
            </a:r>
            <a:endParaRPr lang="en-IN" dirty="0"/>
          </a:p>
        </p:txBody>
      </p:sp>
      <p:pic>
        <p:nvPicPr>
          <p:cNvPr id="6" name="Picture 5" descr="A close-up of a computer code&#10;&#10;AI-generated content may be incorrect.">
            <a:extLst>
              <a:ext uri="{FF2B5EF4-FFF2-40B4-BE49-F238E27FC236}">
                <a16:creationId xmlns:a16="http://schemas.microsoft.com/office/drawing/2014/main" id="{0D3A6071-9417-A43B-AB7B-8B9921155CE6}"/>
              </a:ext>
            </a:extLst>
          </p:cNvPr>
          <p:cNvPicPr>
            <a:picLocks noChangeAspect="1"/>
          </p:cNvPicPr>
          <p:nvPr/>
        </p:nvPicPr>
        <p:blipFill>
          <a:blip r:embed="rId2"/>
          <a:stretch>
            <a:fillRect/>
          </a:stretch>
        </p:blipFill>
        <p:spPr>
          <a:xfrm>
            <a:off x="919664" y="1006287"/>
            <a:ext cx="7536078" cy="1382952"/>
          </a:xfrm>
          <a:prstGeom prst="rect">
            <a:avLst/>
          </a:prstGeom>
        </p:spPr>
      </p:pic>
      <p:pic>
        <p:nvPicPr>
          <p:cNvPr id="8" name="Picture 7">
            <a:extLst>
              <a:ext uri="{FF2B5EF4-FFF2-40B4-BE49-F238E27FC236}">
                <a16:creationId xmlns:a16="http://schemas.microsoft.com/office/drawing/2014/main" id="{4863FC29-37C0-D8EA-B475-E4C9DB3CFE58}"/>
              </a:ext>
            </a:extLst>
          </p:cNvPr>
          <p:cNvPicPr>
            <a:picLocks noChangeAspect="1"/>
          </p:cNvPicPr>
          <p:nvPr/>
        </p:nvPicPr>
        <p:blipFill>
          <a:blip r:embed="rId3"/>
          <a:stretch>
            <a:fillRect/>
          </a:stretch>
        </p:blipFill>
        <p:spPr>
          <a:xfrm>
            <a:off x="638087" y="3889085"/>
            <a:ext cx="9106689" cy="1409822"/>
          </a:xfrm>
          <a:prstGeom prst="rect">
            <a:avLst/>
          </a:prstGeom>
        </p:spPr>
      </p:pic>
    </p:spTree>
    <p:extLst>
      <p:ext uri="{BB962C8B-B14F-4D97-AF65-F5344CB8AC3E}">
        <p14:creationId xmlns:p14="http://schemas.microsoft.com/office/powerpoint/2010/main" val="26145823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373128B-412E-A371-CF1E-DE17741A0A98}"/>
              </a:ext>
            </a:extLst>
          </p:cNvPr>
          <p:cNvSpPr txBox="1"/>
          <p:nvPr/>
        </p:nvSpPr>
        <p:spPr>
          <a:xfrm>
            <a:off x="275302" y="313498"/>
            <a:ext cx="9311149" cy="1575431"/>
          </a:xfrm>
          <a:prstGeom prst="rect">
            <a:avLst/>
          </a:prstGeom>
          <a:noFill/>
        </p:spPr>
        <p:txBody>
          <a:bodyPr wrap="square">
            <a:spAutoFit/>
          </a:bodyPr>
          <a:lstStyle/>
          <a:p>
            <a:pPr>
              <a:lnSpc>
                <a:spcPct val="107000"/>
              </a:lnSpc>
              <a:spcAft>
                <a:spcPts val="800"/>
              </a:spcAf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11 . Model building</a:t>
            </a:r>
          </a:p>
          <a:p>
            <a:pPr marL="342900" lvl="0" indent="-342900">
              <a:lnSpc>
                <a:spcPct val="107000"/>
              </a:lnSpc>
              <a:spcAft>
                <a:spcPts val="800"/>
              </a:spcAft>
              <a:buSzPts val="1000"/>
              <a:buFont typeface="Symbol" panose="05050102010706020507" pitchFamily="18" charset="2"/>
              <a:buChar char=""/>
              <a:tabLst>
                <a:tab pos="457200" algn="l"/>
              </a:tabLs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Use linear regression as the technique</a:t>
            </a:r>
          </a:p>
          <a:p>
            <a:pPr marL="342900" lvl="0" indent="-342900">
              <a:lnSpc>
                <a:spcPct val="107000"/>
              </a:lnSpc>
              <a:spcAft>
                <a:spcPts val="800"/>
              </a:spcAft>
              <a:buSzPts val="1000"/>
              <a:buFont typeface="Symbol" panose="05050102010706020507" pitchFamily="18" charset="2"/>
              <a:buChar char=""/>
              <a:tabLst>
                <a:tab pos="457200" algn="l"/>
              </a:tabLs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Report the R2 on the train set</a:t>
            </a:r>
          </a:p>
          <a:p>
            <a:pPr>
              <a:lnSpc>
                <a:spcPct val="107000"/>
              </a:lnSpc>
              <a:spcAft>
                <a:spcPts val="800"/>
              </a:spcAf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12. Make predictions on test set and report R2.</a:t>
            </a:r>
          </a:p>
        </p:txBody>
      </p:sp>
      <p:pic>
        <p:nvPicPr>
          <p:cNvPr id="5" name="Picture 4">
            <a:extLst>
              <a:ext uri="{FF2B5EF4-FFF2-40B4-BE49-F238E27FC236}">
                <a16:creationId xmlns:a16="http://schemas.microsoft.com/office/drawing/2014/main" id="{E327F085-08BB-9B50-20E0-8798FC2B38FF}"/>
              </a:ext>
            </a:extLst>
          </p:cNvPr>
          <p:cNvPicPr>
            <a:picLocks noChangeAspect="1"/>
          </p:cNvPicPr>
          <p:nvPr/>
        </p:nvPicPr>
        <p:blipFill>
          <a:blip r:embed="rId2"/>
          <a:stretch>
            <a:fillRect/>
          </a:stretch>
        </p:blipFill>
        <p:spPr>
          <a:xfrm>
            <a:off x="467821" y="2241755"/>
            <a:ext cx="7323455" cy="4302747"/>
          </a:xfrm>
          <a:prstGeom prst="rect">
            <a:avLst/>
          </a:prstGeom>
        </p:spPr>
      </p:pic>
    </p:spTree>
    <p:extLst>
      <p:ext uri="{BB962C8B-B14F-4D97-AF65-F5344CB8AC3E}">
        <p14:creationId xmlns:p14="http://schemas.microsoft.com/office/powerpoint/2010/main" val="19272875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1538</TotalTime>
  <Words>908</Words>
  <Application>Microsoft Office PowerPoint</Application>
  <PresentationFormat>Widescreen</PresentationFormat>
  <Paragraphs>56</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Aptos</vt:lpstr>
      <vt:lpstr>Aptos Display</vt:lpstr>
      <vt:lpstr>Arial</vt:lpstr>
      <vt:lpstr>Courier New</vt:lpstr>
      <vt:lpstr>Symbol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Jaswanth Kumar Yadavalli [Student-PECS]</dc:creator>
  <cp:lastModifiedBy>Jaswanth Kumar Yadavalli [Student-PECS]</cp:lastModifiedBy>
  <cp:revision>2</cp:revision>
  <dcterms:created xsi:type="dcterms:W3CDTF">2025-03-14T13:10:04Z</dcterms:created>
  <dcterms:modified xsi:type="dcterms:W3CDTF">2025-03-15T14:48:37Z</dcterms:modified>
</cp:coreProperties>
</file>