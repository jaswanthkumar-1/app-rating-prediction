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82296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Rating Prediction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 Store — Course-End Project 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514600"/>
            <a:ext cx="411480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2834640"/>
            <a:ext cx="2560320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8803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10,841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3474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2834640"/>
            <a:ext cx="2560320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28803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7,307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00400" y="3474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2834640"/>
            <a:ext cx="2560320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28803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035040" y="3474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General  |  Technique: Linear Regression  |  Target: App Rating (1–5)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 &amp; Objective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41148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8755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Context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389888"/>
            <a:ext cx="39319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 Store is launching a new feature to boost promising apps - increasing their visibility in: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Recommendations (Similar apps, You might also like)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New &amp; updated game sections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Search result rankings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feature helps newer apps with potential reach wider audiences.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868680"/>
            <a:ext cx="42062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868680"/>
            <a:ext cx="420624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98755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1389888"/>
            <a:ext cx="39319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which apps will have high ratings so Google can identify and promote promising apps.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ratings (provided by customers) are a strong indicator of app quality and user satisfaction.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Task: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— predict the numerical rating of an app based on its features.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googleplaystore.csv  |  12 Steps to Solution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Overview — 13 Features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25196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64008" cy="47548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052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1155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name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337560" y="960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435608"/>
            <a:ext cx="425196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35608"/>
            <a:ext cx="64008" cy="47548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4721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Category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16824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category (FAMILY, GAME…)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37560" y="1527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002536"/>
            <a:ext cx="425196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002536"/>
            <a:ext cx="64008" cy="47548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0391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Rating ★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224942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user rating (1–5)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37560" y="20939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569464"/>
            <a:ext cx="425196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569464"/>
            <a:ext cx="64008" cy="47548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26060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28163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user reviews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37560" y="26609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136392"/>
            <a:ext cx="425196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136392"/>
            <a:ext cx="64008" cy="47548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31729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Size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" y="33832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size (KB / MB)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37560" y="32278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3703320"/>
            <a:ext cx="425196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703320"/>
            <a:ext cx="64008" cy="47548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411480" y="373989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11480" y="39502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downloads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337560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4270248"/>
            <a:ext cx="425196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4270248"/>
            <a:ext cx="64008" cy="47548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6" name="Text 34"/>
          <p:cNvSpPr/>
          <p:nvPr/>
        </p:nvSpPr>
        <p:spPr>
          <a:xfrm>
            <a:off x="411480" y="43068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11480" y="451713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or Paid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337560" y="43616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09160" y="868680"/>
            <a:ext cx="425196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09160" y="868680"/>
            <a:ext cx="64008" cy="47548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1" name="Text 39"/>
          <p:cNvSpPr/>
          <p:nvPr/>
        </p:nvSpPr>
        <p:spPr>
          <a:xfrm>
            <a:off x="4846320" y="9052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46320" y="11155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price in USD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772400" y="960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09160" y="1435608"/>
            <a:ext cx="425196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09160" y="1435608"/>
            <a:ext cx="64008" cy="47548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6" name="Text 44"/>
          <p:cNvSpPr/>
          <p:nvPr/>
        </p:nvSpPr>
        <p:spPr>
          <a:xfrm>
            <a:off x="4846320" y="14721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 Rating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846320" y="16824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 targeted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772400" y="1527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09160" y="2002536"/>
            <a:ext cx="425196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09160" y="2002536"/>
            <a:ext cx="64008" cy="47548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1" name="Text 49"/>
          <p:cNvSpPr/>
          <p:nvPr/>
        </p:nvSpPr>
        <p:spPr>
          <a:xfrm>
            <a:off x="4846320" y="20391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Genres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846320" y="224942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genres per app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772400" y="20939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709160" y="2569464"/>
            <a:ext cx="425196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709160" y="2569464"/>
            <a:ext cx="64008" cy="475488"/>
          </a:xfrm>
          <a:prstGeom prst="rect">
            <a:avLst/>
          </a:prstGeom>
          <a:solidFill>
            <a:srgbClr val="F9C74F"/>
          </a:solidFill>
          <a:ln/>
        </p:spPr>
      </p:sp>
      <p:sp>
        <p:nvSpPr>
          <p:cNvPr id="56" name="Text 54"/>
          <p:cNvSpPr/>
          <p:nvPr/>
        </p:nvSpPr>
        <p:spPr>
          <a:xfrm>
            <a:off x="4846320" y="26060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Last Updated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846320" y="28163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update date on Play Store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772400" y="26609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709160" y="3136392"/>
            <a:ext cx="425196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709160" y="3136392"/>
            <a:ext cx="64008" cy="47548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61" name="Text 59"/>
          <p:cNvSpPr/>
          <p:nvPr/>
        </p:nvSpPr>
        <p:spPr>
          <a:xfrm>
            <a:off x="4846320" y="31729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Ver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846320" y="33832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version of the app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7772400" y="32278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709160" y="3703320"/>
            <a:ext cx="425196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4709160" y="3703320"/>
            <a:ext cx="64008" cy="47548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66" name="Text 64"/>
          <p:cNvSpPr/>
          <p:nvPr/>
        </p:nvSpPr>
        <p:spPr>
          <a:xfrm>
            <a:off x="4846320" y="373989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Android Ver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4846320" y="39502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required Android version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7772400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9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Preprocessing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206240" cy="118872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502920" cy="1188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6868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9601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Null Value Removal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307592"/>
            <a:ext cx="3520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Rating: 1474 | Type: 1 | Content Rating: 1 | Android Ver: 3 → Drop all rows with nulls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221992"/>
            <a:ext cx="4206240" cy="118872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221992"/>
            <a:ext cx="502920" cy="1188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2221992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68680" y="231343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 Fixing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2660904"/>
            <a:ext cx="3520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(Mb→×1000 KB) | Reviews → int | Installs (remove +,) → int | Price (remove $) → float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575304"/>
            <a:ext cx="4206240" cy="118872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575304"/>
            <a:ext cx="502920" cy="1188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3575304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68680" y="366674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Sanity Checks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4014216"/>
            <a:ext cx="3520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∈ [1,5] | Reviews ≤ Installs | Free apps: Price = 0 → Drop violations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868680"/>
            <a:ext cx="4206240" cy="118872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868680"/>
            <a:ext cx="502920" cy="1188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86868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49240" y="9601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Outlier Removal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9240" y="1307592"/>
            <a:ext cx="3520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&gt; $200 dropped | Reviews &gt; 2M dropped | Installs &gt; 10,000,000 dropped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2221992"/>
            <a:ext cx="4206240" cy="118872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221992"/>
            <a:ext cx="502920" cy="1188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2221992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349240" y="231343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 Transformation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49240" y="2660904"/>
            <a:ext cx="3520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np.log1p() applied to Reviews and Installs — reduces right skew before modeling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3575304"/>
            <a:ext cx="4206240" cy="118872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575304"/>
            <a:ext cx="502920" cy="1188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3575304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349240" y="366674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49240" y="4014216"/>
            <a:ext cx="3520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Drop: App, Last Updated, Current Ver, Android Ver | Dummy encode: Category, Genres, Content Rating → inp2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Cleaning — Results &amp; Sanity Checks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920240" cy="13716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686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10,841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6276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Records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23160" y="822960"/>
            <a:ext cx="1920240" cy="1371600"/>
          </a:xfrm>
          <a:prstGeom prst="rect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8686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3,534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23160" y="16276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Removed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822960"/>
            <a:ext cx="1920240" cy="137160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8686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7,307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0" y="16276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Records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20840" y="822960"/>
            <a:ext cx="1920240" cy="1371600"/>
          </a:xfrm>
          <a:prstGeom prst="rect">
            <a:avLst/>
          </a:prstGeom>
          <a:solidFill>
            <a:srgbClr val="F9C74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8686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32.6%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720840" y="16276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Removed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2377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Null Values by Column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743200"/>
          <a:ext cx="4114800" cy="201168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</a:tblGrid>
              <a:tr h="2873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 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Rating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/ Category / Reviews / Installs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754880" y="2377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Sanity Check Rules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754880" y="2743200"/>
            <a:ext cx="41148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4846320" y="27614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Rating must be between 1 and 5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754880" y="3081528"/>
            <a:ext cx="4114800" cy="329184"/>
          </a:xfrm>
          <a:prstGeom prst="rect">
            <a:avLst/>
          </a:prstGeom>
          <a:solidFill>
            <a:srgbClr val="F0F6FA"/>
          </a:solidFill>
          <a:ln/>
        </p:spPr>
      </p:sp>
      <p:sp>
        <p:nvSpPr>
          <p:cNvPr id="22" name="Text 19"/>
          <p:cNvSpPr/>
          <p:nvPr/>
        </p:nvSpPr>
        <p:spPr>
          <a:xfrm>
            <a:off x="4846320" y="309981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Reviews ≤ Installs (can't review without installing)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754880" y="3419856"/>
            <a:ext cx="41148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1"/>
          <p:cNvSpPr/>
          <p:nvPr/>
        </p:nvSpPr>
        <p:spPr>
          <a:xfrm>
            <a:off x="4846320" y="343814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Free apps must have Price = 0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754880" y="3758184"/>
            <a:ext cx="4114800" cy="329184"/>
          </a:xfrm>
          <a:prstGeom prst="rect">
            <a:avLst/>
          </a:prstGeom>
          <a:solidFill>
            <a:srgbClr val="F0F6FA"/>
          </a:solidFill>
          <a:ln/>
        </p:spPr>
      </p:sp>
      <p:sp>
        <p:nvSpPr>
          <p:cNvPr id="26" name="Text 23"/>
          <p:cNvSpPr/>
          <p:nvPr/>
        </p:nvSpPr>
        <p:spPr>
          <a:xfrm>
            <a:off x="4846320" y="37764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Price &gt; $200 → treated as junk, dropped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754880" y="4096512"/>
            <a:ext cx="41148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5"/>
          <p:cNvSpPr/>
          <p:nvPr/>
        </p:nvSpPr>
        <p:spPr>
          <a:xfrm>
            <a:off x="4846320" y="41148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Reviews &gt; 2,000,000 → star app, dropped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4754880" y="4434840"/>
            <a:ext cx="4114800" cy="329184"/>
          </a:xfrm>
          <a:prstGeom prst="rect">
            <a:avLst/>
          </a:prstGeom>
          <a:solidFill>
            <a:srgbClr val="F0F6FA"/>
          </a:solidFill>
          <a:ln/>
        </p:spPr>
      </p:sp>
      <p:sp>
        <p:nvSpPr>
          <p:cNvPr id="30" name="Text 27"/>
          <p:cNvSpPr/>
          <p:nvPr/>
        </p:nvSpPr>
        <p:spPr>
          <a:xfrm>
            <a:off x="4846320" y="44531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Installs &gt; 10,000,000 → dropped (docx threshold)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Univariate Analysis — Rating &amp; Size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4124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Rating Distribution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88720"/>
            <a:ext cx="4206240" cy="2651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63440" y="777240"/>
            <a:ext cx="42062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754880" y="84124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Size Distribution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88720"/>
            <a:ext cx="4206240" cy="26517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74320" y="4114800"/>
            <a:ext cx="8595360" cy="77724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57200" y="4133088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Rating: Left-skewed — most apps rated 4.0–5.0. Mean = 4.17, Median = 4.30.  📦 Size: Right-skewed — most apps are small (&lt;50 MB). A few very large apps are outliers.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Univariate Analysis — Price &amp; Reviews Boxplots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4124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Boxplot — Price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88720"/>
            <a:ext cx="4206240" cy="2377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63440" y="777240"/>
            <a:ext cx="42062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754880" y="84124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Boxplot — Reviews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88720"/>
            <a:ext cx="4206240" cy="23774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74320" y="3822192"/>
            <a:ext cx="4160520" cy="1097280"/>
          </a:xfrm>
          <a:prstGeom prst="rect">
            <a:avLst/>
          </a:prstGeom>
          <a:solidFill>
            <a:srgbClr val="0A193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11480" y="3877056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Price: Most apps are FREE or very low cost. Apps &gt;$200 are clear outliers (junk apps) → dropped.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709160" y="3822192"/>
            <a:ext cx="4160520" cy="1097280"/>
          </a:xfrm>
          <a:prstGeom prst="rect">
            <a:avLst/>
          </a:prstGeom>
          <a:solidFill>
            <a:srgbClr val="0A193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4846320" y="3877056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Reviews: Extremely right-skewed. A few apps have millions of reviews — star apps that skew the analysis → dropped.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Bivariate Analysis — Rating vs Price &amp; Size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4124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Rating vs Price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88720"/>
            <a:ext cx="4206240" cy="2377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63440" y="777240"/>
            <a:ext cx="42062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754880" y="84124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Rating vs Size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88720"/>
            <a:ext cx="4206240" cy="23774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74320" y="3822192"/>
            <a:ext cx="4160520" cy="1097280"/>
          </a:xfrm>
          <a:prstGeom prst="rect">
            <a:avLst/>
          </a:prstGeom>
          <a:solidFill>
            <a:srgbClr val="0A193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11480" y="3877056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Price vs Rating: No clear pattern. Free apps dominate. Paid apps show slight rating increase, but the relationship is very weak.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709160" y="3822192"/>
            <a:ext cx="4160520" cy="1097280"/>
          </a:xfrm>
          <a:prstGeom prst="rect">
            <a:avLst/>
          </a:prstGeom>
          <a:solidFill>
            <a:srgbClr val="0A193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4846320" y="3877056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Size vs Rating: No strong correlation. Heavier apps are not necessarily rated better. Size alone is a poor predictor of rating.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Bivariate Analysis — Reviews, Type &amp; Content Rating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4124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Rating vs Reviews (log)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70432"/>
            <a:ext cx="4206240" cy="1828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63440" y="777240"/>
            <a:ext cx="192024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754880" y="8412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 vs Paid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70432"/>
            <a:ext cx="1920240" cy="18288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766560" y="777240"/>
            <a:ext cx="210312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858000" y="8412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 Rating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170432"/>
            <a:ext cx="2103120" cy="18288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274320" y="3246120"/>
            <a:ext cx="8595360" cy="1645920"/>
          </a:xfrm>
          <a:prstGeom prst="rect">
            <a:avLst/>
          </a:prstGeom>
          <a:solidFill>
            <a:srgbClr val="0A193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457200" y="33101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Observations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57200" y="37033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Reviews vs Rating: Weak correlation. More reviews don't guarantee a higher rating.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457200" y="405079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Paid apps (avg 4.26) rated slightly higher than Free (4.16) — higher user commitment.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457200" y="439826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👨‍👩‍👧  Adults-only apps have the highest avg rating. 'Everyone' category shows the most variance.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Bivariate Analysis — Ratings by Category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530352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60720" y="777240"/>
            <a:ext cx="31089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760720" y="777240"/>
            <a:ext cx="310896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4"/>
          <p:cNvSpPr/>
          <p:nvPr/>
        </p:nvSpPr>
        <p:spPr>
          <a:xfrm>
            <a:off x="5852160" y="8686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Category Insights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852160" y="1371600"/>
            <a:ext cx="2834640" cy="384048"/>
          </a:xfrm>
          <a:prstGeom prst="rect">
            <a:avLst/>
          </a:prstGeom>
          <a:solidFill>
            <a:srgbClr val="F0F6FA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0" y="14447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0" y="14447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4.48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852160" y="1847088"/>
            <a:ext cx="28346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0" y="19202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772400" y="19202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4.39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852160" y="2322576"/>
            <a:ext cx="2834640" cy="384048"/>
          </a:xfrm>
          <a:prstGeom prst="rect">
            <a:avLst/>
          </a:prstGeom>
          <a:solidFill>
            <a:srgbClr val="F0F6FA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0" y="23957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&amp; DESIGN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772400" y="23957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4.38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852160" y="2798064"/>
            <a:ext cx="28346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5943600" y="28712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PARENTING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772400" y="28712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4.35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852160" y="3273552"/>
            <a:ext cx="2834640" cy="384048"/>
          </a:xfrm>
          <a:prstGeom prst="rect">
            <a:avLst/>
          </a:prstGeom>
          <a:solidFill>
            <a:srgbClr val="F0F6FA"/>
          </a:solidFill>
          <a:ln/>
        </p:spPr>
      </p:sp>
      <p:sp>
        <p:nvSpPr>
          <p:cNvPr id="21" name="Text 18"/>
          <p:cNvSpPr/>
          <p:nvPr/>
        </p:nvSpPr>
        <p:spPr>
          <a:xfrm>
            <a:off x="5943600" y="33467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&amp; REF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772400" y="334670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4.32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760720" y="3767328"/>
            <a:ext cx="310896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Text 21"/>
          <p:cNvSpPr/>
          <p:nvPr/>
        </p:nvSpPr>
        <p:spPr>
          <a:xfrm>
            <a:off x="5852160" y="3840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and EDUCATION apps consistently receive the highest ratings — prime candidates for Google's promotion feature.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9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Code Snippets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4251960" cy="192024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41248"/>
            <a:ext cx="4251960" cy="3474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7782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1–3: Load &amp; Clean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243584"/>
            <a:ext cx="40690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pd.read_csv('googleplaystore.csv')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df.dropna(inplace=True)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df['Size'] = df['Size'].apply(lambda x: float(x.replace('M',''))*1000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if 'M' in str(x) else float(x.replace('k','')))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df['Reviews']  = df['Reviews'].apply(lambda x: int(x))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df['Installs'] = df['Installs'].str.replace('[+,]','').apply(int)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df['Price']    = df['Price'].str.replace('$','').apply(float)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2944368"/>
            <a:ext cx="4251960" cy="192024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944368"/>
            <a:ext cx="4251960" cy="3474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98094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5–6: Sanity + Outlier Removal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346704"/>
            <a:ext cx="40690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df[(df['Rating']&gt;=1) &amp; (df['Rating']&lt;=5)]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df.drop(df[df['Reviews']&gt;df['Installs']].index, inplace=True)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df.drop(df[df['Price']&gt;200].index, inplace=True)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df.drop(df[df['Reviews']&gt;2000000].index, inplace=True)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df.drop(df[df['Installs']&gt;10000000].index, inplace=True)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09160" y="841248"/>
            <a:ext cx="4251960" cy="192024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841248"/>
            <a:ext cx="4251960" cy="3474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87782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8: Preprocessing (inp1 → inp2)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1243584"/>
            <a:ext cx="40690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inp1 = df.copy()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inp1['Reviews']  = np.log1p(inp1['Reviews'])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inp1['Installs'] = np.log1p(inp1['Installs'])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inp1.drop(['App','Last Updated','Current Ver','Android Ver'], axis=1, inplace=True)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inp2 = pd.get_dummies(inp1, columns=['Category','Genres','Content Rating'])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09160" y="2944368"/>
            <a:ext cx="4251960" cy="192024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944368"/>
            <a:ext cx="4251960" cy="3474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298094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9–12: Split &amp; Model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3346704"/>
            <a:ext cx="40690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inp2.drop('Rating', axis=1)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inp2['Rating']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X_test, y_train, y_test = train_test_split(X, y, test_size=0.3, random_state=5)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lin_reg = LinearRegression()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lin_reg.fit(X_train, y_train)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print('Train R2:', round(lin_reg.score(X_train, y_train),3))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print('Test  R2:', round(lin_reg.score(X_test,  y_test), 3))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9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Building — Linear Regression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1298448" cy="82296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04672"/>
            <a:ext cx="1298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572768" y="1216152"/>
            <a:ext cx="164592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0" y="804672"/>
            <a:ext cx="1298448" cy="82296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737360" y="804672"/>
            <a:ext cx="1298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Cleaning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35808" y="1216152"/>
            <a:ext cx="164592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804672"/>
            <a:ext cx="1298448" cy="82296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804672"/>
            <a:ext cx="1298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98848" y="1216152"/>
            <a:ext cx="164592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804672"/>
            <a:ext cx="1298448" cy="82296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804672"/>
            <a:ext cx="1298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70/30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61888" y="1216152"/>
            <a:ext cx="164592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804672"/>
            <a:ext cx="1298448" cy="82296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26480" y="804672"/>
            <a:ext cx="1298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424928" y="1216152"/>
            <a:ext cx="164592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0" y="804672"/>
            <a:ext cx="1298448" cy="822960"/>
          </a:xfrm>
          <a:prstGeom prst="rect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589520" y="804672"/>
            <a:ext cx="1298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(R²)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1810512"/>
            <a:ext cx="4114800" cy="306324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19202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Configuration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239572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920240" y="239572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(sklearn)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279806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Size: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920240" y="279806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 →  df_train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2004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Size: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920240" y="320040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 →  df_test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360273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920240" y="360273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(continuous, 1–5)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0050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Variables: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920240" y="400507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Genres, Content Rating (dummies), Reviews (log), Installs (log), Size, Price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40740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Dataframes: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920240" y="440740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inp1 (log-transformed) → inp2 (dummy-encoded)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54880" y="1810512"/>
            <a:ext cx="4114800" cy="306324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937760" y="19202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Performance (R²)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937760" y="2395728"/>
            <a:ext cx="3474720" cy="109728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937760" y="24414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R²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937760" y="2761488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0.109</a:t>
            </a:r>
            <a:endParaRPr lang="en-US" sz="3400" dirty="0"/>
          </a:p>
        </p:txBody>
      </p:sp>
      <p:sp>
        <p:nvSpPr>
          <p:cNvPr id="40" name="Shape 38"/>
          <p:cNvSpPr/>
          <p:nvPr/>
        </p:nvSpPr>
        <p:spPr>
          <a:xfrm>
            <a:off x="4937760" y="3639312"/>
            <a:ext cx="3474720" cy="1097280"/>
          </a:xfrm>
          <a:prstGeom prst="rect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937760" y="368503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937760" y="4005072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0.103</a:t>
            </a:r>
            <a:endParaRPr lang="en-US" sz="3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9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 &amp; Conclusion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123444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548640" cy="1234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22960"/>
            <a:ext cx="548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9144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Categories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29844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(4.48), Education (4.39), and Art &amp; Design (4.38) receive the highest ratings — prime candidates for Google's promotion feature.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212848"/>
            <a:ext cx="4206240" cy="123444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212848"/>
            <a:ext cx="548640" cy="1234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2212848"/>
            <a:ext cx="548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14400" y="23042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Paid &gt; Free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688336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apps (avg 4.26) rated slightly higher than Free (4.16) — likely due to higher user expectations and commitment.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602736"/>
            <a:ext cx="4206240" cy="123444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602736"/>
            <a:ext cx="548640" cy="1234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3602736"/>
            <a:ext cx="548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4400" y="369417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Rating Distribution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4078224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Left-skewed — majority score 4.0–5.0. Very few apps rated below 3.0. Users tend to rate only apps they are satisfied with.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822960"/>
            <a:ext cx="4206240" cy="123444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822960"/>
            <a:ext cx="548640" cy="1234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822960"/>
            <a:ext cx="548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394960" y="9144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R² = 0.10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94960" y="129844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yields R²≈0.10. App ratings are hard to predict with these features alone. Consider Random Forest or XGBoost.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2212848"/>
            <a:ext cx="4206240" cy="123444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212848"/>
            <a:ext cx="548640" cy="1234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2212848"/>
            <a:ext cx="548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394960" y="23042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Quality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94960" y="2688336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32.6% of records removed during cleaning — inconsistent formats (Size, Installs, Price) required significant preprocessing.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3602736"/>
            <a:ext cx="4206240" cy="123444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602736"/>
            <a:ext cx="548640" cy="1234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3602736"/>
            <a:ext cx="548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394960" y="369417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94960" y="4078224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promotion on Events &amp; Education. Use ensemble models for better predictive accuracy. Log-transform skewed numeric features.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 Rating Prediction</dc:title>
  <dc:subject>PptxGenJS Presentation</dc:subject>
  <dc:creator>PptxGenJS</dc:creator>
  <cp:lastModifiedBy>PptxGenJS</cp:lastModifiedBy>
  <cp:revision>1</cp:revision>
  <dcterms:created xsi:type="dcterms:W3CDTF">2026-04-14T14:32:44Z</dcterms:created>
  <dcterms:modified xsi:type="dcterms:W3CDTF">2026-04-14T14:32:44Z</dcterms:modified>
</cp:coreProperties>
</file>